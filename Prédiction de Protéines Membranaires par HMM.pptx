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16256000"/>
  <p:notesSz cx="9144000" cy="16256000"/>
  <p:embeddedFontLst>
    <p:embeddedFont>
      <p:font typeface="Quattrocen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0BF4B6-8311-479B-96AD-9B1DDCC40F31}">
  <a:tblStyle styleId="{A40BF4B6-8311-479B-96AD-9B1DDCC40F3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11" Type="http://schemas.openxmlformats.org/officeDocument/2006/relationships/slide" Target="slides/slide6.xml"/><Relationship Id="rId22" Type="http://schemas.openxmlformats.org/officeDocument/2006/relationships/font" Target="fonts/QuattrocentoSans-boldItalic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ab447bb0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eab447bb0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eab447bb0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ab780d7b1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ab780d7b1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ab780d7b1_2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flkfuuc6y3nco/mnt/agents/output/prediction-membrane/images/1_Protein_Structure_and_How_to_Study.png" id="17" name="Google Shape;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>
            <a:gsLst>
              <a:gs pos="0">
                <a:srgbClr val="0F4C5C">
                  <a:alpha val="40000"/>
                </a:srgbClr>
              </a:gs>
              <a:gs pos="50000">
                <a:srgbClr val="0F4C5C">
                  <a:alpha val="80000"/>
                </a:srgbClr>
              </a:gs>
              <a:gs pos="100000">
                <a:srgbClr val="0F4C5C">
                  <a:alpha val="9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1143000" y="3302000"/>
            <a:ext cx="13970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Prédiction de Protéines Membranaires</a:t>
            </a:r>
            <a:endParaRPr b="0" i="0" sz="3200" u="none" cap="none" strike="noStrike"/>
          </a:p>
        </p:txBody>
      </p:sp>
      <p:sp>
        <p:nvSpPr>
          <p:cNvPr id="21" name="Google Shape;21;p4"/>
          <p:cNvSpPr/>
          <p:nvPr/>
        </p:nvSpPr>
        <p:spPr>
          <a:xfrm>
            <a:off x="2413000" y="46990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 Modèles de Markov Cachés (HMM)</a:t>
            </a:r>
            <a:endParaRPr b="0" i="0" sz="1600" u="none" cap="none" strike="noStrike"/>
          </a:p>
        </p:txBody>
      </p:sp>
      <p:sp>
        <p:nvSpPr>
          <p:cNvPr id="22" name="Google Shape;22;p4"/>
          <p:cNvSpPr/>
          <p:nvPr/>
        </p:nvSpPr>
        <p:spPr>
          <a:xfrm>
            <a:off x="3683000" y="54610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Une approche probabiliste pour la classification membranaire</a:t>
            </a:r>
            <a:endParaRPr b="0" i="0" sz="1600" u="none" cap="none" strike="noStrike"/>
          </a:p>
        </p:txBody>
      </p:sp>
      <p:sp>
        <p:nvSpPr>
          <p:cNvPr id="23" name="Google Shape;23;p4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 DE BIOINFORMATIQUE</a:t>
            </a:r>
            <a:endParaRPr b="0" i="0" sz="1200" u="none" cap="none" strike="noStrike"/>
          </a:p>
        </p:txBody>
      </p:sp>
      <p:sp>
        <p:nvSpPr>
          <p:cNvPr id="25" name="Google Shape;25;p4"/>
          <p:cNvSpPr/>
          <p:nvPr/>
        </p:nvSpPr>
        <p:spPr>
          <a:xfrm>
            <a:off x="3683050" y="6477000"/>
            <a:ext cx="8889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Kilian Froidevaux &amp; Basile Buxtorf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3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0" y="8763000"/>
            <a:ext cx="3251200" cy="381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254000" y="8763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PROBLÉMATIQUE</a:t>
            </a:r>
            <a:endParaRPr b="0" i="0" sz="1200" u="none" cap="none" strike="noStrike"/>
          </a:p>
        </p:txBody>
      </p:sp>
      <p:sp>
        <p:nvSpPr>
          <p:cNvPr id="34" name="Google Shape;34;p5"/>
          <p:cNvSpPr/>
          <p:nvPr/>
        </p:nvSpPr>
        <p:spPr>
          <a:xfrm>
            <a:off x="15240000" y="8763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200" u="none" cap="none" strike="noStrike"/>
          </a:p>
        </p:txBody>
      </p:sp>
      <p:sp>
        <p:nvSpPr>
          <p:cNvPr id="35" name="Google Shape;35;p5"/>
          <p:cNvSpPr/>
          <p:nvPr/>
        </p:nvSpPr>
        <p:spPr>
          <a:xfrm>
            <a:off x="762000" y="508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Problématique &amp; Enjeux</a:t>
            </a:r>
            <a:endParaRPr b="0" i="0" sz="3200" u="none" cap="none" strike="noStrike"/>
          </a:p>
        </p:txBody>
      </p:sp>
      <p:sp>
        <p:nvSpPr>
          <p:cNvPr id="36" name="Google Shape;36;p5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62000" y="1524000"/>
            <a:ext cx="3238500" cy="2159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2197100" y="1752600"/>
            <a:ext cx="381000" cy="508000"/>
          </a:xfrm>
          <a:custGeom>
            <a:rect b="b" l="l" r="r" t="t"/>
            <a:pathLst>
              <a:path extrusionOk="0" h="508000" w="381000">
                <a:moveTo>
                  <a:pt x="349250" y="0"/>
                </a:moveTo>
                <a:cubicBezTo>
                  <a:pt x="366812" y="0"/>
                  <a:pt x="381000" y="14188"/>
                  <a:pt x="381000" y="31750"/>
                </a:cubicBezTo>
                <a:cubicBezTo>
                  <a:pt x="381000" y="89098"/>
                  <a:pt x="356791" y="135731"/>
                  <a:pt x="324048" y="175121"/>
                </a:cubicBezTo>
                <a:cubicBezTo>
                  <a:pt x="300137" y="203795"/>
                  <a:pt x="270669" y="229791"/>
                  <a:pt x="241102" y="254000"/>
                </a:cubicBezTo>
                <a:cubicBezTo>
                  <a:pt x="270669" y="278309"/>
                  <a:pt x="300137" y="304205"/>
                  <a:pt x="324048" y="332879"/>
                </a:cubicBezTo>
                <a:cubicBezTo>
                  <a:pt x="356791" y="372170"/>
                  <a:pt x="381000" y="418902"/>
                  <a:pt x="381000" y="476250"/>
                </a:cubicBezTo>
                <a:cubicBezTo>
                  <a:pt x="381000" y="493812"/>
                  <a:pt x="366812" y="508000"/>
                  <a:pt x="349250" y="508000"/>
                </a:cubicBezTo>
                <a:cubicBezTo>
                  <a:pt x="331688" y="508000"/>
                  <a:pt x="317500" y="493812"/>
                  <a:pt x="317500" y="476250"/>
                </a:cubicBezTo>
                <a:lnTo>
                  <a:pt x="63500" y="476250"/>
                </a:lnTo>
                <a:cubicBezTo>
                  <a:pt x="63500" y="493812"/>
                  <a:pt x="49312" y="508000"/>
                  <a:pt x="31750" y="508000"/>
                </a:cubicBezTo>
                <a:cubicBezTo>
                  <a:pt x="14188" y="508000"/>
                  <a:pt x="0" y="493812"/>
                  <a:pt x="0" y="476250"/>
                </a:cubicBezTo>
                <a:cubicBezTo>
                  <a:pt x="0" y="418902"/>
                  <a:pt x="24209" y="372269"/>
                  <a:pt x="56952" y="332879"/>
                </a:cubicBezTo>
                <a:cubicBezTo>
                  <a:pt x="80863" y="304205"/>
                  <a:pt x="110331" y="278309"/>
                  <a:pt x="139898" y="254000"/>
                </a:cubicBezTo>
                <a:cubicBezTo>
                  <a:pt x="110331" y="229691"/>
                  <a:pt x="80863" y="203795"/>
                  <a:pt x="56952" y="175121"/>
                </a:cubicBezTo>
                <a:cubicBezTo>
                  <a:pt x="24209" y="135731"/>
                  <a:pt x="0" y="89098"/>
                  <a:pt x="0" y="31750"/>
                </a:cubicBezTo>
                <a:cubicBezTo>
                  <a:pt x="0" y="14188"/>
                  <a:pt x="14188" y="0"/>
                  <a:pt x="31750" y="0"/>
                </a:cubicBezTo>
                <a:cubicBezTo>
                  <a:pt x="49312" y="0"/>
                  <a:pt x="63500" y="14188"/>
                  <a:pt x="63500" y="31750"/>
                </a:cubicBezTo>
                <a:lnTo>
                  <a:pt x="317500" y="31750"/>
                </a:lnTo>
                <a:cubicBezTo>
                  <a:pt x="317500" y="14188"/>
                  <a:pt x="331688" y="0"/>
                  <a:pt x="349250" y="0"/>
                </a:cubicBezTo>
                <a:close/>
                <a:moveTo>
                  <a:pt x="281285" y="381000"/>
                </a:moveTo>
                <a:lnTo>
                  <a:pt x="99814" y="381000"/>
                </a:lnTo>
                <a:cubicBezTo>
                  <a:pt x="91678" y="391418"/>
                  <a:pt x="84832" y="401935"/>
                  <a:pt x="79375" y="412750"/>
                </a:cubicBezTo>
                <a:lnTo>
                  <a:pt x="301823" y="412750"/>
                </a:lnTo>
                <a:cubicBezTo>
                  <a:pt x="296267" y="401935"/>
                  <a:pt x="289421" y="391418"/>
                  <a:pt x="281384" y="381000"/>
                </a:cubicBezTo>
                <a:close/>
                <a:moveTo>
                  <a:pt x="236141" y="333375"/>
                </a:moveTo>
                <a:cubicBezTo>
                  <a:pt x="221952" y="320477"/>
                  <a:pt x="206573" y="307777"/>
                  <a:pt x="190500" y="294680"/>
                </a:cubicBezTo>
                <a:cubicBezTo>
                  <a:pt x="174427" y="307677"/>
                  <a:pt x="159048" y="320477"/>
                  <a:pt x="144859" y="333375"/>
                </a:cubicBezTo>
                <a:lnTo>
                  <a:pt x="236141" y="333375"/>
                </a:lnTo>
                <a:close/>
                <a:moveTo>
                  <a:pt x="99715" y="127000"/>
                </a:moveTo>
                <a:lnTo>
                  <a:pt x="281186" y="127000"/>
                </a:lnTo>
                <a:cubicBezTo>
                  <a:pt x="289322" y="116582"/>
                  <a:pt x="296168" y="106065"/>
                  <a:pt x="301625" y="95250"/>
                </a:cubicBezTo>
                <a:lnTo>
                  <a:pt x="79276" y="95250"/>
                </a:lnTo>
                <a:cubicBezTo>
                  <a:pt x="84832" y="106065"/>
                  <a:pt x="91678" y="116582"/>
                  <a:pt x="99715" y="127000"/>
                </a:cubicBezTo>
                <a:close/>
                <a:moveTo>
                  <a:pt x="144859" y="174625"/>
                </a:moveTo>
                <a:cubicBezTo>
                  <a:pt x="159048" y="187523"/>
                  <a:pt x="174427" y="200223"/>
                  <a:pt x="190500" y="213320"/>
                </a:cubicBezTo>
                <a:cubicBezTo>
                  <a:pt x="206573" y="200323"/>
                  <a:pt x="221952" y="187523"/>
                  <a:pt x="236141" y="174625"/>
                </a:cubicBezTo>
                <a:lnTo>
                  <a:pt x="144859" y="174625"/>
                </a:lnTo>
                <a:close/>
              </a:path>
            </a:pathLst>
          </a:custGeom>
          <a:solidFill>
            <a:srgbClr val="5F9E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762000" y="2349500"/>
            <a:ext cx="32385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</a:t>
            </a:r>
            <a:r>
              <a:rPr b="1" i="0" lang="en-US" sz="40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b="1" lang="en-US" sz="4000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0-30</a:t>
            </a:r>
            <a:r>
              <a:rPr b="1" i="0" lang="en-US" sz="40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</a:t>
            </a:r>
            <a:endParaRPr b="0" i="0" sz="4000" u="none" cap="none" strike="noStrike"/>
          </a:p>
        </p:txBody>
      </p:sp>
      <p:sp>
        <p:nvSpPr>
          <p:cNvPr id="40" name="Google Shape;40;p5"/>
          <p:cNvSpPr/>
          <p:nvPr/>
        </p:nvSpPr>
        <p:spPr>
          <a:xfrm>
            <a:off x="889000" y="3048000"/>
            <a:ext cx="298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 génome codant</a:t>
            </a:r>
            <a:endParaRPr b="0" i="0" sz="1400" u="none" cap="none" strike="noStrike"/>
          </a:p>
        </p:txBody>
      </p:sp>
      <p:sp>
        <p:nvSpPr>
          <p:cNvPr id="41" name="Google Shape;41;p5"/>
          <p:cNvSpPr/>
          <p:nvPr/>
        </p:nvSpPr>
        <p:spPr>
          <a:xfrm>
            <a:off x="4381500" y="1524000"/>
            <a:ext cx="3238500" cy="2159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5721350" y="1752600"/>
            <a:ext cx="571500" cy="508000"/>
          </a:xfrm>
          <a:custGeom>
            <a:rect b="b" l="l" r="r" t="t"/>
            <a:pathLst>
              <a:path extrusionOk="0" h="508000" w="571500">
                <a:moveTo>
                  <a:pt x="95250" y="111125"/>
                </a:moveTo>
                <a:cubicBezTo>
                  <a:pt x="95250" y="84832"/>
                  <a:pt x="116582" y="63500"/>
                  <a:pt x="142875" y="63500"/>
                </a:cubicBezTo>
                <a:cubicBezTo>
                  <a:pt x="169168" y="63500"/>
                  <a:pt x="190500" y="84832"/>
                  <a:pt x="190500" y="111125"/>
                </a:cubicBezTo>
                <a:lnTo>
                  <a:pt x="190500" y="222250"/>
                </a:lnTo>
                <a:lnTo>
                  <a:pt x="95250" y="222250"/>
                </a:lnTo>
                <a:lnTo>
                  <a:pt x="95250" y="111125"/>
                </a:lnTo>
                <a:close/>
                <a:moveTo>
                  <a:pt x="31750" y="111125"/>
                </a:moveTo>
                <a:lnTo>
                  <a:pt x="31750" y="396875"/>
                </a:lnTo>
                <a:cubicBezTo>
                  <a:pt x="31750" y="458291"/>
                  <a:pt x="81459" y="508000"/>
                  <a:pt x="142875" y="508000"/>
                </a:cubicBezTo>
                <a:cubicBezTo>
                  <a:pt x="204291" y="508000"/>
                  <a:pt x="254000" y="458291"/>
                  <a:pt x="254000" y="396875"/>
                </a:cubicBezTo>
                <a:lnTo>
                  <a:pt x="254000" y="291902"/>
                </a:lnTo>
                <a:lnTo>
                  <a:pt x="369391" y="460077"/>
                </a:lnTo>
                <a:cubicBezTo>
                  <a:pt x="404614" y="511373"/>
                  <a:pt x="473869" y="523875"/>
                  <a:pt x="524173" y="487958"/>
                </a:cubicBezTo>
                <a:cubicBezTo>
                  <a:pt x="574477" y="452041"/>
                  <a:pt x="586680" y="381298"/>
                  <a:pt x="551458" y="330002"/>
                </a:cubicBezTo>
                <a:lnTo>
                  <a:pt x="423962" y="144165"/>
                </a:lnTo>
                <a:cubicBezTo>
                  <a:pt x="388739" y="92869"/>
                  <a:pt x="319484" y="80367"/>
                  <a:pt x="269180" y="116284"/>
                </a:cubicBezTo>
                <a:cubicBezTo>
                  <a:pt x="263624" y="120253"/>
                  <a:pt x="258564" y="124619"/>
                  <a:pt x="254000" y="129282"/>
                </a:cubicBezTo>
                <a:lnTo>
                  <a:pt x="254000" y="111125"/>
                </a:lnTo>
                <a:cubicBezTo>
                  <a:pt x="254000" y="49709"/>
                  <a:pt x="204291" y="0"/>
                  <a:pt x="142875" y="0"/>
                </a:cubicBezTo>
                <a:cubicBezTo>
                  <a:pt x="81459" y="0"/>
                  <a:pt x="31750" y="49709"/>
                  <a:pt x="31750" y="111125"/>
                </a:cubicBezTo>
                <a:close/>
                <a:moveTo>
                  <a:pt x="294283" y="238323"/>
                </a:moveTo>
                <a:cubicBezTo>
                  <a:pt x="278408" y="215205"/>
                  <a:pt x="284361" y="183455"/>
                  <a:pt x="306090" y="167878"/>
                </a:cubicBezTo>
                <a:cubicBezTo>
                  <a:pt x="327124" y="152896"/>
                  <a:pt x="356195" y="157659"/>
                  <a:pt x="371574" y="179983"/>
                </a:cubicBezTo>
                <a:lnTo>
                  <a:pt x="438051" y="276820"/>
                </a:lnTo>
                <a:lnTo>
                  <a:pt x="358775" y="332284"/>
                </a:lnTo>
                <a:lnTo>
                  <a:pt x="294283" y="238224"/>
                </a:lnTo>
                <a:close/>
              </a:path>
            </a:pathLst>
          </a:custGeom>
          <a:solidFill>
            <a:srgbClr val="5F9E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4381500" y="2349500"/>
            <a:ext cx="32385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&gt;50%</a:t>
            </a:r>
            <a:endParaRPr b="0" i="0" sz="4000" u="none" cap="none" strike="noStrike"/>
          </a:p>
        </p:txBody>
      </p:sp>
      <p:sp>
        <p:nvSpPr>
          <p:cNvPr id="44" name="Google Shape;44;p5"/>
          <p:cNvSpPr/>
          <p:nvPr/>
        </p:nvSpPr>
        <p:spPr>
          <a:xfrm>
            <a:off x="4508500" y="3048000"/>
            <a:ext cx="298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cibles thérapeutiques</a:t>
            </a:r>
            <a:endParaRPr b="0" i="0" sz="1400" u="none" cap="none" strike="noStrike"/>
          </a:p>
        </p:txBody>
      </p:sp>
      <p:sp>
        <p:nvSpPr>
          <p:cNvPr id="45" name="Google Shape;45;p5"/>
          <p:cNvSpPr/>
          <p:nvPr/>
        </p:nvSpPr>
        <p:spPr>
          <a:xfrm>
            <a:off x="8001000" y="1524000"/>
            <a:ext cx="3238500" cy="2159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9436100" y="1752600"/>
            <a:ext cx="381000" cy="508000"/>
          </a:xfrm>
          <a:custGeom>
            <a:rect b="b" l="l" r="r" t="t"/>
            <a:pathLst>
              <a:path extrusionOk="0" h="508000" w="381000">
                <a:moveTo>
                  <a:pt x="0" y="31750"/>
                </a:moveTo>
                <a:cubicBezTo>
                  <a:pt x="0" y="14188"/>
                  <a:pt x="14188" y="0"/>
                  <a:pt x="31750" y="0"/>
                </a:cubicBezTo>
                <a:lnTo>
                  <a:pt x="349250" y="0"/>
                </a:lnTo>
                <a:cubicBezTo>
                  <a:pt x="366812" y="0"/>
                  <a:pt x="381000" y="14188"/>
                  <a:pt x="381000" y="31750"/>
                </a:cubicBezTo>
                <a:lnTo>
                  <a:pt x="381000" y="63500"/>
                </a:lnTo>
                <a:cubicBezTo>
                  <a:pt x="381000" y="81062"/>
                  <a:pt x="366812" y="95250"/>
                  <a:pt x="349250" y="95250"/>
                </a:cubicBezTo>
                <a:lnTo>
                  <a:pt x="31750" y="95250"/>
                </a:lnTo>
                <a:cubicBezTo>
                  <a:pt x="14188" y="95250"/>
                  <a:pt x="0" y="81062"/>
                  <a:pt x="0" y="63500"/>
                </a:cubicBezTo>
                <a:lnTo>
                  <a:pt x="0" y="31750"/>
                </a:lnTo>
                <a:close/>
                <a:moveTo>
                  <a:pt x="31750" y="142875"/>
                </a:moveTo>
                <a:lnTo>
                  <a:pt x="349250" y="142875"/>
                </a:lnTo>
                <a:lnTo>
                  <a:pt x="349250" y="444500"/>
                </a:lnTo>
                <a:cubicBezTo>
                  <a:pt x="349250" y="479524"/>
                  <a:pt x="320774" y="508000"/>
                  <a:pt x="285750" y="508000"/>
                </a:cubicBezTo>
                <a:lnTo>
                  <a:pt x="95250" y="508000"/>
                </a:lnTo>
                <a:cubicBezTo>
                  <a:pt x="60226" y="508000"/>
                  <a:pt x="31750" y="479524"/>
                  <a:pt x="31750" y="444500"/>
                </a:cubicBezTo>
                <a:lnTo>
                  <a:pt x="31750" y="142875"/>
                </a:lnTo>
                <a:close/>
                <a:moveTo>
                  <a:pt x="158750" y="246063"/>
                </a:moveTo>
                <a:lnTo>
                  <a:pt x="158750" y="285750"/>
                </a:lnTo>
                <a:lnTo>
                  <a:pt x="119063" y="285750"/>
                </a:lnTo>
                <a:cubicBezTo>
                  <a:pt x="110331" y="285750"/>
                  <a:pt x="103188" y="292894"/>
                  <a:pt x="103188" y="301625"/>
                </a:cubicBezTo>
                <a:lnTo>
                  <a:pt x="103188" y="333375"/>
                </a:lnTo>
                <a:cubicBezTo>
                  <a:pt x="103188" y="342106"/>
                  <a:pt x="110331" y="349250"/>
                  <a:pt x="119063" y="349250"/>
                </a:cubicBezTo>
                <a:lnTo>
                  <a:pt x="158750" y="349250"/>
                </a:lnTo>
                <a:lnTo>
                  <a:pt x="158750" y="388938"/>
                </a:lnTo>
                <a:cubicBezTo>
                  <a:pt x="158750" y="397669"/>
                  <a:pt x="165894" y="404813"/>
                  <a:pt x="174625" y="404813"/>
                </a:cubicBezTo>
                <a:lnTo>
                  <a:pt x="206375" y="404813"/>
                </a:lnTo>
                <a:cubicBezTo>
                  <a:pt x="215106" y="404813"/>
                  <a:pt x="222250" y="397669"/>
                  <a:pt x="222250" y="388938"/>
                </a:cubicBezTo>
                <a:lnTo>
                  <a:pt x="222250" y="349250"/>
                </a:lnTo>
                <a:lnTo>
                  <a:pt x="261937" y="349250"/>
                </a:lnTo>
                <a:cubicBezTo>
                  <a:pt x="270669" y="349250"/>
                  <a:pt x="277813" y="342106"/>
                  <a:pt x="277813" y="333375"/>
                </a:cubicBezTo>
                <a:lnTo>
                  <a:pt x="277813" y="301625"/>
                </a:lnTo>
                <a:cubicBezTo>
                  <a:pt x="277813" y="292894"/>
                  <a:pt x="270669" y="285750"/>
                  <a:pt x="261937" y="285750"/>
                </a:cubicBezTo>
                <a:lnTo>
                  <a:pt x="222250" y="285750"/>
                </a:lnTo>
                <a:lnTo>
                  <a:pt x="222250" y="246063"/>
                </a:lnTo>
                <a:cubicBezTo>
                  <a:pt x="222250" y="237331"/>
                  <a:pt x="215106" y="230188"/>
                  <a:pt x="206375" y="230188"/>
                </a:cubicBezTo>
                <a:lnTo>
                  <a:pt x="174625" y="230188"/>
                </a:lnTo>
                <a:cubicBezTo>
                  <a:pt x="165894" y="230188"/>
                  <a:pt x="158750" y="237331"/>
                  <a:pt x="158750" y="246063"/>
                </a:cubicBezTo>
                <a:close/>
              </a:path>
            </a:pathLst>
          </a:custGeom>
          <a:solidFill>
            <a:srgbClr val="5F9E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001000" y="2349500"/>
            <a:ext cx="32385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</a:t>
            </a:r>
            <a:r>
              <a:rPr b="1" lang="en-US" sz="4000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r>
              <a:rPr b="1" i="0" lang="en-US" sz="40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0%</a:t>
            </a:r>
            <a:endParaRPr b="0" i="0" sz="4000" u="none" cap="none" strike="noStrike"/>
          </a:p>
        </p:txBody>
      </p:sp>
      <p:sp>
        <p:nvSpPr>
          <p:cNvPr id="48" name="Google Shape;48;p5"/>
          <p:cNvSpPr/>
          <p:nvPr/>
        </p:nvSpPr>
        <p:spPr>
          <a:xfrm>
            <a:off x="8128000" y="3048000"/>
            <a:ext cx="298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médicaments concernés</a:t>
            </a:r>
            <a:endParaRPr b="0" i="0" sz="1400" u="none" cap="none" strike="noStrike"/>
          </a:p>
        </p:txBody>
      </p:sp>
      <p:sp>
        <p:nvSpPr>
          <p:cNvPr id="49" name="Google Shape;49;p5"/>
          <p:cNvSpPr/>
          <p:nvPr/>
        </p:nvSpPr>
        <p:spPr>
          <a:xfrm>
            <a:off x="11620500" y="1524000"/>
            <a:ext cx="3873500" cy="2159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13341350" y="1752600"/>
            <a:ext cx="444500" cy="508000"/>
          </a:xfrm>
          <a:custGeom>
            <a:rect b="b" l="l" r="r" t="t"/>
            <a:pathLst>
              <a:path extrusionOk="0" h="508000" w="444500">
                <a:moveTo>
                  <a:pt x="285750" y="0"/>
                </a:moveTo>
                <a:lnTo>
                  <a:pt x="127000" y="0"/>
                </a:lnTo>
                <a:cubicBezTo>
                  <a:pt x="109438" y="0"/>
                  <a:pt x="95250" y="14188"/>
                  <a:pt x="95250" y="31750"/>
                </a:cubicBezTo>
                <a:cubicBezTo>
                  <a:pt x="95250" y="49312"/>
                  <a:pt x="109438" y="63500"/>
                  <a:pt x="127000" y="63500"/>
                </a:cubicBezTo>
                <a:lnTo>
                  <a:pt x="127000" y="213816"/>
                </a:lnTo>
                <a:lnTo>
                  <a:pt x="7441" y="422970"/>
                </a:lnTo>
                <a:cubicBezTo>
                  <a:pt x="2580" y="431602"/>
                  <a:pt x="0" y="441226"/>
                  <a:pt x="0" y="451148"/>
                </a:cubicBezTo>
                <a:cubicBezTo>
                  <a:pt x="0" y="482600"/>
                  <a:pt x="25400" y="508000"/>
                  <a:pt x="56852" y="508000"/>
                </a:cubicBezTo>
                <a:lnTo>
                  <a:pt x="387648" y="508000"/>
                </a:lnTo>
                <a:cubicBezTo>
                  <a:pt x="419001" y="508000"/>
                  <a:pt x="444500" y="482600"/>
                  <a:pt x="444500" y="451148"/>
                </a:cubicBezTo>
                <a:cubicBezTo>
                  <a:pt x="444500" y="441226"/>
                  <a:pt x="441920" y="431502"/>
                  <a:pt x="437059" y="422970"/>
                </a:cubicBezTo>
                <a:lnTo>
                  <a:pt x="317500" y="213816"/>
                </a:lnTo>
                <a:lnTo>
                  <a:pt x="317500" y="63500"/>
                </a:lnTo>
                <a:cubicBezTo>
                  <a:pt x="335062" y="63500"/>
                  <a:pt x="349250" y="49312"/>
                  <a:pt x="349250" y="31750"/>
                </a:cubicBezTo>
                <a:cubicBezTo>
                  <a:pt x="349250" y="14188"/>
                  <a:pt x="335062" y="0"/>
                  <a:pt x="317500" y="0"/>
                </a:cubicBezTo>
                <a:lnTo>
                  <a:pt x="285750" y="0"/>
                </a:lnTo>
                <a:close/>
                <a:moveTo>
                  <a:pt x="190500" y="213816"/>
                </a:moveTo>
                <a:lnTo>
                  <a:pt x="190500" y="63500"/>
                </a:lnTo>
                <a:lnTo>
                  <a:pt x="254000" y="63500"/>
                </a:lnTo>
                <a:lnTo>
                  <a:pt x="254000" y="213816"/>
                </a:lnTo>
                <a:cubicBezTo>
                  <a:pt x="254000" y="224830"/>
                  <a:pt x="256877" y="235744"/>
                  <a:pt x="262334" y="245368"/>
                </a:cubicBezTo>
                <a:lnTo>
                  <a:pt x="303609" y="317500"/>
                </a:lnTo>
                <a:lnTo>
                  <a:pt x="140891" y="317500"/>
                </a:lnTo>
                <a:lnTo>
                  <a:pt x="182166" y="245368"/>
                </a:lnTo>
                <a:cubicBezTo>
                  <a:pt x="187623" y="235744"/>
                  <a:pt x="190500" y="224929"/>
                  <a:pt x="190500" y="213816"/>
                </a:cubicBezTo>
                <a:close/>
              </a:path>
            </a:pathLst>
          </a:custGeom>
          <a:solidFill>
            <a:srgbClr val="5F9E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11620500" y="2349500"/>
            <a:ext cx="38735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</a:t>
            </a:r>
            <a:r>
              <a:rPr b="1" lang="en-US" sz="4000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r>
              <a:rPr b="1" i="0" lang="en-US" sz="40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</a:t>
            </a:r>
            <a:endParaRPr b="0" i="0" sz="4000" u="none" cap="none" strike="noStrike"/>
          </a:p>
        </p:txBody>
      </p:sp>
      <p:sp>
        <p:nvSpPr>
          <p:cNvPr id="52" name="Google Shape;52;p5"/>
          <p:cNvSpPr/>
          <p:nvPr/>
        </p:nvSpPr>
        <p:spPr>
          <a:xfrm>
            <a:off x="11747500" y="3048000"/>
            <a:ext cx="361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structures dans la PDB</a:t>
            </a:r>
            <a:endParaRPr b="0" i="0" sz="1400" u="none" cap="none" strike="noStrike"/>
          </a:p>
        </p:txBody>
      </p:sp>
      <p:sp>
        <p:nvSpPr>
          <p:cNvPr id="53" name="Google Shape;53;p5"/>
          <p:cNvSpPr/>
          <p:nvPr/>
        </p:nvSpPr>
        <p:spPr>
          <a:xfrm>
            <a:off x="762000" y="4064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Pourquoi prédire les protéines membranaires ?</a:t>
            </a:r>
            <a:endParaRPr b="0" i="0" sz="2200" u="none" cap="none" strike="noStrike"/>
          </a:p>
        </p:txBody>
      </p:sp>
      <p:sp>
        <p:nvSpPr>
          <p:cNvPr id="54" name="Google Shape;54;p5"/>
          <p:cNvSpPr/>
          <p:nvPr/>
        </p:nvSpPr>
        <p:spPr>
          <a:xfrm>
            <a:off x="762000" y="4572000"/>
            <a:ext cx="6985000" cy="3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Centralité biologique</a:t>
            </a: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Les protéines membranaires assurent des fonctions critiques</a:t>
            </a:r>
            <a:r>
              <a:rPr lang="en-US" sz="18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Cibles thérapeutiques majeures</a:t>
            </a: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GPCR, canaux ioniques et transporteurs représentent la majorité des cibles des médicaments actuels.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Défi expérimental</a:t>
            </a: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Difficultés de cristallisation, expression recombinante complexe, stabilité limitée </a:t>
            </a:r>
            <a:r>
              <a:rPr b="0" i="1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vitro</a:t>
            </a: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800" u="none" cap="none" strike="noStrike"/>
          </a:p>
        </p:txBody>
      </p:sp>
      <p:sp>
        <p:nvSpPr>
          <p:cNvPr id="55" name="Google Shape;55;p5"/>
          <p:cNvSpPr/>
          <p:nvPr/>
        </p:nvSpPr>
        <p:spPr>
          <a:xfrm>
            <a:off x="8382000" y="4572000"/>
            <a:ext cx="7112000" cy="3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Gap structure-fonction</a:t>
            </a: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Malgré leur importance, seulement ~2-3% des structures dans la PDB sont membranaires.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Enjeu économiq</a:t>
            </a:r>
            <a:r>
              <a:rPr b="1" i="0" lang="en-US" sz="18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ue</a:t>
            </a: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</a:t>
            </a:r>
            <a:r>
              <a:rPr lang="en-US" sz="18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</a:t>
            </a:r>
            <a:r>
              <a:rPr lang="en-US" sz="18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0% des médicaments commercialisés ciblent des protéines membranaires, un marché de plusieurs dizaines de milliards d'euros.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La prédiction </a:t>
            </a:r>
            <a:r>
              <a:rPr b="1" i="1" lang="en-US" sz="18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silico</a:t>
            </a:r>
            <a:r>
              <a:rPr b="1" i="0" lang="en-US" sz="18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donc indispensable pour guider la recherche et réduire les coûts.</a:t>
            </a:r>
            <a:endParaRPr b="0" i="0" sz="18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0" y="8763000"/>
            <a:ext cx="16256100" cy="381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3251200" y="8763000"/>
            <a:ext cx="3251100" cy="381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3505200" y="8763000"/>
            <a:ext cx="2921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CONTEXTE BIOLOGIQUE</a:t>
            </a:r>
            <a:endParaRPr b="0" i="0" sz="1200" u="none" cap="none" strike="noStrike"/>
          </a:p>
        </p:txBody>
      </p:sp>
      <p:sp>
        <p:nvSpPr>
          <p:cNvPr id="64" name="Google Shape;64;p6"/>
          <p:cNvSpPr/>
          <p:nvPr/>
        </p:nvSpPr>
        <p:spPr>
          <a:xfrm>
            <a:off x="15240000" y="8763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200" u="none" cap="none" strike="noStrike"/>
          </a:p>
        </p:txBody>
      </p:sp>
      <p:sp>
        <p:nvSpPr>
          <p:cNvPr id="65" name="Google Shape;65;p6"/>
          <p:cNvSpPr/>
          <p:nvPr/>
        </p:nvSpPr>
        <p:spPr>
          <a:xfrm>
            <a:off x="762000" y="508000"/>
            <a:ext cx="7620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Biologique</a:t>
            </a:r>
            <a:endParaRPr b="0" i="0" sz="3200" u="none" cap="none" strike="noStrike"/>
          </a:p>
        </p:txBody>
      </p:sp>
      <p:sp>
        <p:nvSpPr>
          <p:cNvPr id="66" name="Google Shape;66;p6"/>
          <p:cNvSpPr/>
          <p:nvPr/>
        </p:nvSpPr>
        <p:spPr>
          <a:xfrm>
            <a:off x="762000" y="1117600"/>
            <a:ext cx="10161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762000" y="1460500"/>
            <a:ext cx="58608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Rôles fonctionnels</a:t>
            </a:r>
            <a:endParaRPr b="1" sz="1800">
              <a:solidFill>
                <a:srgbClr val="0F4C5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</a:t>
            </a: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Transport 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Médiation du passage d'ions, de métabolites et d'autres molécules à travers la membrane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</a:t>
            </a: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Transduction du signal 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Réception de signaux extracellulaires et initiation de cascades intracellulaires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</a:t>
            </a: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Activité enzymatique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Catalyse des réactions à la surface de la membrane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</a:t>
            </a: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Rôles structurels et adhésifs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Ancrage de la membrane au aux cellules adjacentes, et maintien de la courbure et de l'organisation membranaire.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8001000" y="6572175"/>
            <a:ext cx="6350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Fig. </a:t>
            </a:r>
            <a:r>
              <a:rPr i="1" lang="en-US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</a:t>
            </a:r>
            <a:r>
              <a:rPr b="0" i="1" lang="en-US" sz="14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</a:t>
            </a:r>
            <a:r>
              <a:rPr i="1" lang="en-US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Membrane plasmique avec ses protéines</a:t>
            </a:r>
            <a:endParaRPr b="0" i="0" sz="1400" u="none" cap="none" strike="noStrike"/>
          </a:p>
        </p:txBody>
      </p:sp>
      <p:pic>
        <p:nvPicPr>
          <p:cNvPr id="69" name="Google Shape;6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100" y="2317725"/>
            <a:ext cx="8127901" cy="4254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3251200" y="8763000"/>
            <a:ext cx="3251200" cy="381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/>
          <p:nvPr/>
        </p:nvSpPr>
        <p:spPr>
          <a:xfrm>
            <a:off x="3505200" y="8763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CONTEXTE BIOLOGIQUE</a:t>
            </a:r>
            <a:endParaRPr b="0" i="0" sz="1200" u="none" cap="none" strike="noStrike"/>
          </a:p>
        </p:txBody>
      </p:sp>
      <p:sp>
        <p:nvSpPr>
          <p:cNvPr id="83" name="Google Shape;83;p8"/>
          <p:cNvSpPr/>
          <p:nvPr/>
        </p:nvSpPr>
        <p:spPr>
          <a:xfrm>
            <a:off x="15240000" y="8763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200" u="none" cap="none" strike="noStrike"/>
          </a:p>
        </p:txBody>
      </p:sp>
      <p:sp>
        <p:nvSpPr>
          <p:cNvPr id="84" name="Google Shape;84;p8"/>
          <p:cNvSpPr/>
          <p:nvPr/>
        </p:nvSpPr>
        <p:spPr>
          <a:xfrm>
            <a:off x="762000" y="508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Biologique</a:t>
            </a:r>
            <a:endParaRPr b="0" i="0" sz="3200" u="none" cap="none" strike="noStrike"/>
          </a:p>
        </p:txBody>
      </p:sp>
      <p:sp>
        <p:nvSpPr>
          <p:cNvPr id="85" name="Google Shape;85;p8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762000" y="1460500"/>
            <a:ext cx="787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Types de protéines membranaires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Récepteurs (GPCR), canaux ioniques, transporteurs, enzymes membranaires — chaque famille présente des architectures et fonctions distinctes.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Hélices transmembranaires (TM)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Segments de </a:t>
            </a:r>
            <a:r>
              <a:rPr b="1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~20-25 résidus hydrophobes</a:t>
            </a: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traversant la bicouche lipidique. Structure la plus fréquente, stabilisée par interactions hydrophobes avec les lipides.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Défis expérimentaux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Difficiles à cristalliser, expression recombinante complexe, structures sous-représentées dans la PDB (&lt;3%).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La prédiction in silico est essentielle pour combler ce gap.</a:t>
            </a:r>
            <a:endParaRPr b="0" i="0" sz="1800" u="none" cap="none" strike="noStrike"/>
          </a:p>
        </p:txBody>
      </p:sp>
      <p:pic>
        <p:nvPicPr>
          <p:cNvPr descr="https://kimi-img.moonshot.cn/pub/slides/okc/flkfuuc6y3nco/mnt/agents/output/prediction-membrane/images/2_In_focus_Unlocking_the_potential.png" id="87" name="Google Shape;87;p8"/>
          <p:cNvPicPr preferRelativeResize="0"/>
          <p:nvPr/>
        </p:nvPicPr>
        <p:blipFill rotWithShape="1">
          <a:blip r:embed="rId3">
            <a:alphaModFix/>
          </a:blip>
          <a:srcRect b="5714" l="0" r="0" t="5714"/>
          <a:stretch/>
        </p:blipFill>
        <p:spPr>
          <a:xfrm>
            <a:off x="9144000" y="1460500"/>
            <a:ext cx="6350000" cy="3937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sp>
        <p:nvSpPr>
          <p:cNvPr id="88" name="Google Shape;88;p8"/>
          <p:cNvSpPr/>
          <p:nvPr/>
        </p:nvSpPr>
        <p:spPr>
          <a:xfrm>
            <a:off x="9144000" y="54864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Fig. 1 — Structure d'un GPCR avec ses 7 hélices transmembranaires</a:t>
            </a:r>
            <a:endParaRPr b="0" i="0" sz="1400" u="none" cap="none" strike="noStrike"/>
          </a:p>
        </p:txBody>
      </p:sp>
      <p:sp>
        <p:nvSpPr>
          <p:cNvPr id="89" name="Google Shape;89;p8"/>
          <p:cNvSpPr/>
          <p:nvPr/>
        </p:nvSpPr>
        <p:spPr>
          <a:xfrm>
            <a:off x="9144000" y="6032500"/>
            <a:ext cx="6350000" cy="2413000"/>
          </a:xfrm>
          <a:prstGeom prst="roundRect">
            <a:avLst>
              <a:gd fmla="val 4000" name="adj"/>
            </a:avLst>
          </a:prstGeom>
          <a:solidFill>
            <a:srgbClr val="0F4C5C">
              <a:alpha val="5098"/>
            </a:srgbClr>
          </a:solidFill>
          <a:ln cap="flat" cmpd="sng" w="12700">
            <a:solidFill>
              <a:srgbClr val="0F4C5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9398000" y="6159500"/>
            <a:ext cx="58420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Propriétés clés des segments TM :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Longueur : ~20-25 acides aminés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Forte composante hydrophobe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Enrichies en Leu, Ile, Val, Phe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Alternance de charges aux extrémités</a:t>
            </a:r>
            <a:endParaRPr b="0" i="0" sz="18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3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6502400" y="8763000"/>
            <a:ext cx="3251200" cy="381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6756400" y="8763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PANORAMA</a:t>
            </a:r>
            <a:endParaRPr b="0" i="0" sz="1200" u="none" cap="none" strike="noStrike"/>
          </a:p>
        </p:txBody>
      </p:sp>
      <p:sp>
        <p:nvSpPr>
          <p:cNvPr id="99" name="Google Shape;99;p9"/>
          <p:cNvSpPr/>
          <p:nvPr/>
        </p:nvSpPr>
        <p:spPr>
          <a:xfrm>
            <a:off x="15240000" y="8763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200" u="none" cap="none" strike="noStrike"/>
          </a:p>
        </p:txBody>
      </p:sp>
      <p:sp>
        <p:nvSpPr>
          <p:cNvPr id="100" name="Google Shape;100;p9"/>
          <p:cNvSpPr/>
          <p:nvPr/>
        </p:nvSpPr>
        <p:spPr>
          <a:xfrm>
            <a:off x="762000" y="508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Panorama des Approches de Prédiction</a:t>
            </a:r>
            <a:endParaRPr b="0" i="0" sz="3200" u="none" cap="none" strike="noStrike"/>
          </a:p>
        </p:txBody>
      </p:sp>
      <p:sp>
        <p:nvSpPr>
          <p:cNvPr id="101" name="Google Shape;101;p9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2" name="Google Shape;102;p9"/>
          <p:cNvGraphicFramePr/>
          <p:nvPr/>
        </p:nvGraphicFramePr>
        <p:xfrm>
          <a:off x="762000" y="146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{A40BF4B6-8311-479B-96AD-9B1DDCC40F31}</a:tableStyleId>
              </a:tblPr>
              <a:tblGrid>
                <a:gridCol w="2651750"/>
                <a:gridCol w="3977650"/>
                <a:gridCol w="3977650"/>
                <a:gridCol w="4124950"/>
              </a:tblGrid>
              <a:tr h="959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Critère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Méthodes Physiques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HMM (TMHMM, Phobius)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Deep Learning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</a:tr>
              <a:tr h="168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Principe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Fenêtre glissante sur l'échelle d'hydrophobicité (Kyte-Doolittle)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Modélisation probabiliste des états topologiques (TM, boucles, signaux)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Réseaux de neurones profonds (CNN, LSTM, Transformers)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8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Forces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Simplicité, interprétabilité directe, coût nul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Robustesse, interprétabilité biologique, modélisation explicite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Précision SOTA, capture de patterns complexes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</a:tr>
              <a:tr h="168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Limites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Précision limitée, sensibilité au bruit, pas de modélisation d'états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Hypothèses markoviennes, pas de dépendances longues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Boîte noire, ressources computationnelles élevées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3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0"/>
          <p:cNvSpPr/>
          <p:nvPr/>
        </p:nvSpPr>
        <p:spPr>
          <a:xfrm>
            <a:off x="9753600" y="8763000"/>
            <a:ext cx="3251200" cy="381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"/>
          <p:cNvSpPr/>
          <p:nvPr/>
        </p:nvSpPr>
        <p:spPr>
          <a:xfrm>
            <a:off x="10007600" y="8763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NOTRE APPROCHE</a:t>
            </a:r>
            <a:endParaRPr b="0" i="0" sz="1200" u="none" cap="none" strike="noStrike"/>
          </a:p>
        </p:txBody>
      </p:sp>
      <p:sp>
        <p:nvSpPr>
          <p:cNvPr id="111" name="Google Shape;111;p10"/>
          <p:cNvSpPr/>
          <p:nvPr/>
        </p:nvSpPr>
        <p:spPr>
          <a:xfrm>
            <a:off x="15240000" y="8763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1200" u="none" cap="none" strike="noStrike"/>
          </a:p>
        </p:txBody>
      </p:sp>
      <p:sp>
        <p:nvSpPr>
          <p:cNvPr id="112" name="Google Shape;112;p10"/>
          <p:cNvSpPr/>
          <p:nvPr/>
        </p:nvSpPr>
        <p:spPr>
          <a:xfrm>
            <a:off x="762000" y="508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Notre Choix : HMM</a:t>
            </a:r>
            <a:endParaRPr b="0" i="0" sz="3200" u="none" cap="none" strike="noStrike"/>
          </a:p>
        </p:txBody>
      </p:sp>
      <p:sp>
        <p:nvSpPr>
          <p:cNvPr id="113" name="Google Shape;113;p10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Pourquoi les HMM ?</a:t>
            </a:r>
            <a:endParaRPr b="0" i="0" sz="2200" u="none" cap="none" strike="noStrike"/>
          </a:p>
        </p:txBody>
      </p:sp>
      <p:sp>
        <p:nvSpPr>
          <p:cNvPr id="115" name="Google Shape;115;p10"/>
          <p:cNvSpPr/>
          <p:nvPr/>
        </p:nvSpPr>
        <p:spPr>
          <a:xfrm>
            <a:off x="762000" y="1968500"/>
            <a:ext cx="6858000" cy="762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"/>
          <p:cNvSpPr/>
          <p:nvPr/>
        </p:nvSpPr>
        <p:spPr>
          <a:xfrm>
            <a:off x="1012825" y="2159000"/>
            <a:ext cx="311150" cy="355600"/>
          </a:xfrm>
          <a:custGeom>
            <a:rect b="b" l="l" r="r" t="t"/>
            <a:pathLst>
              <a:path extrusionOk="0" h="355600" w="31115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5F9E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1498600" y="2032000"/>
            <a:ext cx="59055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Intérêts</a:t>
            </a:r>
            <a:r>
              <a:rPr b="1" lang="en-US" sz="16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personnels: </a:t>
            </a:r>
            <a:r>
              <a:rPr lang="en-US" sz="16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modèle jamais utilisé</a:t>
            </a:r>
            <a:endParaRPr b="0" i="0" sz="1800" u="none" cap="none" strike="noStrike"/>
          </a:p>
        </p:txBody>
      </p:sp>
      <p:sp>
        <p:nvSpPr>
          <p:cNvPr id="118" name="Google Shape;118;p10"/>
          <p:cNvSpPr/>
          <p:nvPr/>
        </p:nvSpPr>
        <p:spPr>
          <a:xfrm>
            <a:off x="762000" y="2857500"/>
            <a:ext cx="6858000" cy="762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"/>
          <p:cNvSpPr/>
          <p:nvPr/>
        </p:nvSpPr>
        <p:spPr>
          <a:xfrm>
            <a:off x="968375" y="3048000"/>
            <a:ext cx="400050" cy="355600"/>
          </a:xfrm>
          <a:custGeom>
            <a:rect b="b" l="l" r="r" t="t"/>
            <a:pathLst>
              <a:path extrusionOk="0" h="355600" w="40005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5F9E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1498600" y="2857500"/>
            <a:ext cx="5905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Interprétabilité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états cachés = segments biologiques (TM, boucles)</a:t>
            </a:r>
            <a:endParaRPr b="0" i="0" sz="1800" u="none" cap="none" strike="noStrike"/>
          </a:p>
        </p:txBody>
      </p:sp>
      <p:sp>
        <p:nvSpPr>
          <p:cNvPr id="121" name="Google Shape;121;p10"/>
          <p:cNvSpPr/>
          <p:nvPr/>
        </p:nvSpPr>
        <p:spPr>
          <a:xfrm>
            <a:off x="762000" y="3746500"/>
            <a:ext cx="6858000" cy="762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990600" y="39370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5F9E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1498600" y="3746500"/>
            <a:ext cx="5905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Robustesse historique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validée par 20+ ans (TMHMM depuis 2001)</a:t>
            </a:r>
            <a:endParaRPr b="0" i="0" sz="1800" u="none" cap="none" strike="noStrike"/>
          </a:p>
        </p:txBody>
      </p:sp>
      <p:sp>
        <p:nvSpPr>
          <p:cNvPr id="124" name="Google Shape;124;p10"/>
          <p:cNvSpPr/>
          <p:nvPr/>
        </p:nvSpPr>
        <p:spPr>
          <a:xfrm>
            <a:off x="762000" y="4635500"/>
            <a:ext cx="6858000" cy="762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990600" y="4826000"/>
            <a:ext cx="355600" cy="355600"/>
          </a:xfrm>
          <a:custGeom>
            <a:rect b="b" l="l" r="r" t="t"/>
            <a:pathLst>
              <a:path extrusionOk="0" h="355600" w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5F9E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1498600" y="4699000"/>
            <a:ext cx="59055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Coût computationnel faible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exécution rapide sur CPU</a:t>
            </a:r>
            <a:endParaRPr b="0" i="0" sz="1800" u="none" cap="none" strike="noStrike"/>
          </a:p>
        </p:txBody>
      </p:sp>
      <p:sp>
        <p:nvSpPr>
          <p:cNvPr id="127" name="Google Shape;127;p10"/>
          <p:cNvSpPr/>
          <p:nvPr/>
        </p:nvSpPr>
        <p:spPr>
          <a:xfrm>
            <a:off x="8382000" y="14605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 : 2 HMM</a:t>
            </a:r>
            <a:endParaRPr b="0" i="0" sz="2200" u="none" cap="none" strike="noStrike"/>
          </a:p>
        </p:txBody>
      </p:sp>
      <p:sp>
        <p:nvSpPr>
          <p:cNvPr id="128" name="Google Shape;128;p10"/>
          <p:cNvSpPr/>
          <p:nvPr/>
        </p:nvSpPr>
        <p:spPr>
          <a:xfrm>
            <a:off x="8382000" y="1968500"/>
            <a:ext cx="7112000" cy="3429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8636000" y="2159000"/>
            <a:ext cx="6604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HMM Positif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entraîné sur séquences membranaires (KW-0812, KW-1003)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F9EA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HMM Négatif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entraîné sur séquences non-membranaires (KW-0963, KW-0539)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Règle de décision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comparaison des scores de log-vraisemblance normalisée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 score(HMM</a:t>
            </a:r>
            <a:r>
              <a:rPr b="0" baseline="-25000" i="1" lang="en-US" sz="16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</a:t>
            </a:r>
            <a:r>
              <a:rPr b="0" i="1" lang="en-US" sz="16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&gt; score(HMM</a:t>
            </a:r>
            <a:r>
              <a:rPr b="0" baseline="-25000" i="1" lang="en-US" sz="16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neg</a:t>
            </a:r>
            <a:r>
              <a:rPr b="0" i="1" lang="en-US" sz="16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 → membranaire</a:t>
            </a:r>
            <a:endParaRPr b="0" i="0" sz="1800" u="none" cap="none" strike="noStrike"/>
          </a:p>
        </p:txBody>
      </p:sp>
      <p:sp>
        <p:nvSpPr>
          <p:cNvPr id="130" name="Google Shape;130;p10"/>
          <p:cNvSpPr/>
          <p:nvPr/>
        </p:nvSpPr>
        <p:spPr>
          <a:xfrm>
            <a:off x="762000" y="5715000"/>
            <a:ext cx="14732000" cy="2540000"/>
          </a:xfrm>
          <a:prstGeom prst="roundRect">
            <a:avLst>
              <a:gd fmla="val 4000" name="adj"/>
            </a:avLst>
          </a:prstGeom>
          <a:solidFill>
            <a:srgbClr val="E07A5F">
              <a:alpha val="6274"/>
            </a:srgbClr>
          </a:solidFill>
          <a:ln cap="flat" cmpd="sng" w="12700">
            <a:solidFill>
              <a:srgbClr val="E07A5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"/>
          <p:cNvSpPr/>
          <p:nvPr/>
        </p:nvSpPr>
        <p:spPr>
          <a:xfrm>
            <a:off x="1079500" y="59055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1587500" y="5867400"/>
            <a:ext cx="381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Avantage clé</a:t>
            </a:r>
            <a:endParaRPr b="0" i="0" sz="2200" u="none" cap="none" strike="noStrike"/>
          </a:p>
        </p:txBody>
      </p:sp>
      <p:sp>
        <p:nvSpPr>
          <p:cNvPr id="133" name="Google Shape;133;p10"/>
          <p:cNvSpPr/>
          <p:nvPr/>
        </p:nvSpPr>
        <p:spPr>
          <a:xfrm>
            <a:off x="1079500" y="6413500"/>
            <a:ext cx="14097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 HMM offrent un </a:t>
            </a:r>
            <a:r>
              <a:rPr b="1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équilibre optimal</a:t>
            </a:r>
            <a:r>
              <a:rPr b="0" i="0" lang="en-US" sz="18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entre performance et interprétabilité. Contrairement aux réseaux de neurones, chaque état caché a une signification biologique directe — nous pouvons inspecter quels segments sont identifiés comme transmembranaires et pourquoi.</a:t>
            </a:r>
            <a:endParaRPr b="0" i="0" sz="18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0" y="8763000"/>
            <a:ext cx="3251200" cy="381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254000" y="8763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DONNÉES</a:t>
            </a:r>
            <a:endParaRPr b="0" i="0" sz="1200" u="none" cap="none" strike="noStrike"/>
          </a:p>
        </p:txBody>
      </p:sp>
      <p:sp>
        <p:nvSpPr>
          <p:cNvPr id="142" name="Google Shape;142;p11"/>
          <p:cNvSpPr/>
          <p:nvPr/>
        </p:nvSpPr>
        <p:spPr>
          <a:xfrm>
            <a:off x="15240000" y="8763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1200" u="none" cap="none" strike="noStrike"/>
          </a:p>
        </p:txBody>
      </p:sp>
      <p:sp>
        <p:nvSpPr>
          <p:cNvPr id="143" name="Google Shape;143;p11"/>
          <p:cNvSpPr/>
          <p:nvPr/>
        </p:nvSpPr>
        <p:spPr>
          <a:xfrm>
            <a:off x="762000" y="508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Collecte et Préparation des Données</a:t>
            </a:r>
            <a:endParaRPr b="0" i="0" sz="3200" u="none" cap="none" strike="noStrike"/>
          </a:p>
        </p:txBody>
      </p:sp>
      <p:sp>
        <p:nvSpPr>
          <p:cNvPr id="144" name="Google Shape;144;p11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784225" y="1498600"/>
            <a:ext cx="311150" cy="355600"/>
          </a:xfrm>
          <a:custGeom>
            <a:rect b="b" l="l" r="r" t="t"/>
            <a:pathLst>
              <a:path extrusionOk="0" h="355600" w="31115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"/>
          <p:cNvSpPr/>
          <p:nvPr/>
        </p:nvSpPr>
        <p:spPr>
          <a:xfrm>
            <a:off x="1270000" y="1422400"/>
            <a:ext cx="1397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 :</a:t>
            </a:r>
            <a:r>
              <a:rPr b="0" i="0" lang="en-US" sz="2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UniProtKB/Swiss-Prot (reviewed) — Homo sapiens</a:t>
            </a:r>
            <a:endParaRPr b="0" i="0" sz="2200" u="none" cap="none" strike="noStrike"/>
          </a:p>
        </p:txBody>
      </p:sp>
      <p:sp>
        <p:nvSpPr>
          <p:cNvPr id="147" name="Google Shape;147;p11"/>
          <p:cNvSpPr/>
          <p:nvPr/>
        </p:nvSpPr>
        <p:spPr>
          <a:xfrm>
            <a:off x="762000" y="2159000"/>
            <a:ext cx="4445000" cy="2794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25400">
            <a:solidFill>
              <a:srgbClr val="0F4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"/>
          <p:cNvSpPr/>
          <p:nvPr/>
        </p:nvSpPr>
        <p:spPr>
          <a:xfrm>
            <a:off x="762000" y="2159000"/>
            <a:ext cx="4445000" cy="508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"/>
          <p:cNvSpPr/>
          <p:nvPr/>
        </p:nvSpPr>
        <p:spPr>
          <a:xfrm>
            <a:off x="762000" y="2159000"/>
            <a:ext cx="4445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CLASSE POSITIVE (Membranaire)</a:t>
            </a:r>
            <a:endParaRPr b="0" i="0" sz="1600" u="none" cap="none" strike="noStrike"/>
          </a:p>
        </p:txBody>
      </p:sp>
      <p:sp>
        <p:nvSpPr>
          <p:cNvPr id="150" name="Google Shape;150;p11"/>
          <p:cNvSpPr/>
          <p:nvPr/>
        </p:nvSpPr>
        <p:spPr>
          <a:xfrm>
            <a:off x="1016000" y="2857500"/>
            <a:ext cx="3937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Mots-clés UniProt :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KW-0812 : Transmembrane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KW-1003 : Membrane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~5000 séquences</a:t>
            </a:r>
            <a:endParaRPr b="0" i="0" sz="1800" u="none" cap="none" strike="noStrike"/>
          </a:p>
        </p:txBody>
      </p:sp>
      <p:sp>
        <p:nvSpPr>
          <p:cNvPr id="151" name="Google Shape;151;p11"/>
          <p:cNvSpPr/>
          <p:nvPr/>
        </p:nvSpPr>
        <p:spPr>
          <a:xfrm>
            <a:off x="5334000" y="3302000"/>
            <a:ext cx="7620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F9E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"/>
          <p:cNvSpPr/>
          <p:nvPr/>
        </p:nvSpPr>
        <p:spPr>
          <a:xfrm>
            <a:off x="6223000" y="2159000"/>
            <a:ext cx="4445000" cy="2794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25400">
            <a:solidFill>
              <a:srgbClr val="5F9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"/>
          <p:cNvSpPr/>
          <p:nvPr/>
        </p:nvSpPr>
        <p:spPr>
          <a:xfrm>
            <a:off x="6223000" y="2159000"/>
            <a:ext cx="4445000" cy="508000"/>
          </a:xfrm>
          <a:prstGeom prst="rect">
            <a:avLst/>
          </a:prstGeom>
          <a:solidFill>
            <a:srgbClr val="5F9E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"/>
          <p:cNvSpPr/>
          <p:nvPr/>
        </p:nvSpPr>
        <p:spPr>
          <a:xfrm>
            <a:off x="6223000" y="2159000"/>
            <a:ext cx="4445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CLASSE NÉGATIVE (Non-membranaire)</a:t>
            </a:r>
            <a:endParaRPr b="0" i="0" sz="1600" u="none" cap="none" strike="noStrike"/>
          </a:p>
        </p:txBody>
      </p:sp>
      <p:sp>
        <p:nvSpPr>
          <p:cNvPr id="155" name="Google Shape;155;p11"/>
          <p:cNvSpPr/>
          <p:nvPr/>
        </p:nvSpPr>
        <p:spPr>
          <a:xfrm>
            <a:off x="6477000" y="2857500"/>
            <a:ext cx="3937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Mots-clés UniProt :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KW-0963 : Cytoplasmic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KW-0539 : Secreted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~5000 séquences</a:t>
            </a:r>
            <a:endParaRPr b="0" i="0" sz="1800" u="none" cap="none" strike="noStrike"/>
          </a:p>
        </p:txBody>
      </p:sp>
      <p:sp>
        <p:nvSpPr>
          <p:cNvPr id="156" name="Google Shape;156;p11"/>
          <p:cNvSpPr/>
          <p:nvPr/>
        </p:nvSpPr>
        <p:spPr>
          <a:xfrm>
            <a:off x="10795000" y="3302000"/>
            <a:ext cx="7620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F9E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11684000" y="2159000"/>
            <a:ext cx="3810000" cy="2794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11684000" y="2159000"/>
            <a:ext cx="3810000" cy="5080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11684000" y="21590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SPLIT STRATIFIÉ</a:t>
            </a:r>
            <a:endParaRPr b="0" i="0" sz="1600" u="none" cap="none" strike="noStrike"/>
          </a:p>
        </p:txBody>
      </p:sp>
      <p:sp>
        <p:nvSpPr>
          <p:cNvPr id="160" name="Google Shape;160;p11"/>
          <p:cNvSpPr/>
          <p:nvPr/>
        </p:nvSpPr>
        <p:spPr>
          <a:xfrm>
            <a:off x="11938000" y="2857500"/>
            <a:ext cx="3302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70%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Entraînement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F9EA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20%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Validation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10%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Test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61" name="Google Shape;161;p11"/>
          <p:cNvSpPr/>
          <p:nvPr/>
        </p:nvSpPr>
        <p:spPr>
          <a:xfrm>
            <a:off x="762000" y="5334000"/>
            <a:ext cx="14732000" cy="2921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1079500" y="55245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Paramètres du pipeline</a:t>
            </a:r>
            <a:endParaRPr b="0" i="0" sz="2200" u="none" cap="none" strike="noStrike"/>
          </a:p>
        </p:txBody>
      </p:sp>
      <p:sp>
        <p:nvSpPr>
          <p:cNvPr id="163" name="Google Shape;163;p11"/>
          <p:cNvSpPr/>
          <p:nvPr/>
        </p:nvSpPr>
        <p:spPr>
          <a:xfrm>
            <a:off x="1079500" y="5969000"/>
            <a:ext cx="140970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Encodage :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alphabet 20 acides aminés (A, C, D, E, F, G, H, I, K, L, M, N, P, Q, R, S, T, V, W, Y)</a:t>
            </a:r>
            <a:endParaRPr b="0" i="0" sz="18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Balance :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classes équilibrées (~5000 séquences positives / ~5000 séquences négatives)</a:t>
            </a:r>
            <a:endParaRPr b="0" i="0" sz="18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 croisée :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split fixe 70/20/10 </a:t>
            </a:r>
            <a:endParaRPr b="0" i="0" sz="18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3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"/>
          <p:cNvSpPr/>
          <p:nvPr/>
        </p:nvSpPr>
        <p:spPr>
          <a:xfrm>
            <a:off x="3251200" y="8763000"/>
            <a:ext cx="3251200" cy="381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3505200" y="8763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MÉTHODOLOGIE</a:t>
            </a:r>
            <a:endParaRPr b="0" i="0" sz="1200" u="none" cap="none" strike="noStrike"/>
          </a:p>
        </p:txBody>
      </p:sp>
      <p:sp>
        <p:nvSpPr>
          <p:cNvPr id="172" name="Google Shape;172;p12"/>
          <p:cNvSpPr/>
          <p:nvPr/>
        </p:nvSpPr>
        <p:spPr>
          <a:xfrm>
            <a:off x="15240000" y="8763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1200" u="none" cap="none" strike="noStrike"/>
          </a:p>
        </p:txBody>
      </p:sp>
      <p:sp>
        <p:nvSpPr>
          <p:cNvPr id="173" name="Google Shape;173;p12"/>
          <p:cNvSpPr/>
          <p:nvPr/>
        </p:nvSpPr>
        <p:spPr>
          <a:xfrm>
            <a:off x="762000" y="508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Fonctionnement du HMM</a:t>
            </a:r>
            <a:endParaRPr b="0" i="0" sz="3200" u="none" cap="none" strike="noStrike"/>
          </a:p>
        </p:txBody>
      </p:sp>
      <p:sp>
        <p:nvSpPr>
          <p:cNvPr id="174" name="Google Shape;174;p1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"/>
          <p:cNvSpPr/>
          <p:nvPr/>
        </p:nvSpPr>
        <p:spPr>
          <a:xfrm>
            <a:off x="762000" y="1397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 du modèle</a:t>
            </a:r>
            <a:endParaRPr b="0" i="0" sz="2200" u="none" cap="none" strike="noStrike"/>
          </a:p>
        </p:txBody>
      </p:sp>
      <p:sp>
        <p:nvSpPr>
          <p:cNvPr id="176" name="Google Shape;176;p12"/>
          <p:cNvSpPr/>
          <p:nvPr/>
        </p:nvSpPr>
        <p:spPr>
          <a:xfrm>
            <a:off x="9978100" y="1867600"/>
            <a:ext cx="534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Algorithme</a:t>
            </a:r>
            <a:r>
              <a:rPr b="1" i="0" lang="en-US" sz="20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</a:t>
            </a:r>
            <a:endParaRPr b="0" i="0" sz="2200" u="none" cap="none" strike="noStrike"/>
          </a:p>
        </p:txBody>
      </p:sp>
      <p:sp>
        <p:nvSpPr>
          <p:cNvPr id="177" name="Google Shape;177;p12"/>
          <p:cNvSpPr/>
          <p:nvPr/>
        </p:nvSpPr>
        <p:spPr>
          <a:xfrm>
            <a:off x="10149200" y="2503250"/>
            <a:ext cx="53448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Baum-Welch (EM)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Estimation itérative des paramètres (émissions, transitions) par maximum de vraisemblance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Viterbi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Décodage : séquence d'états la plus probable pour une séquence donnée (pas utilisé)</a:t>
            </a:r>
            <a:endParaRPr b="0" i="0" sz="1800" u="none" cap="none" strike="noStrike"/>
          </a:p>
        </p:txBody>
      </p:sp>
      <p:sp>
        <p:nvSpPr>
          <p:cNvPr id="178" name="Google Shape;178;p12"/>
          <p:cNvSpPr/>
          <p:nvPr/>
        </p:nvSpPr>
        <p:spPr>
          <a:xfrm>
            <a:off x="762000" y="6092975"/>
            <a:ext cx="12708300" cy="2325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"/>
          <p:cNvSpPr/>
          <p:nvPr/>
        </p:nvSpPr>
        <p:spPr>
          <a:xfrm>
            <a:off x="1079500" y="6283125"/>
            <a:ext cx="635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Chaîne de traitement</a:t>
            </a:r>
            <a:endParaRPr b="0" i="0" sz="2200" u="none" cap="none" strike="noStrike"/>
          </a:p>
        </p:txBody>
      </p:sp>
      <p:sp>
        <p:nvSpPr>
          <p:cNvPr id="180" name="Google Shape;180;p12"/>
          <p:cNvSpPr/>
          <p:nvPr/>
        </p:nvSpPr>
        <p:spPr>
          <a:xfrm>
            <a:off x="1079500" y="7052525"/>
            <a:ext cx="2540100" cy="1016100"/>
          </a:xfrm>
          <a:prstGeom prst="roundRect">
            <a:avLst>
              <a:gd fmla="val 6000" name="adj"/>
            </a:avLst>
          </a:prstGeom>
          <a:solidFill>
            <a:srgbClr val="0F4C5C">
              <a:alpha val="7058"/>
            </a:srgbClr>
          </a:solidFill>
          <a:ln cap="flat" cmpd="sng" w="12700">
            <a:solidFill>
              <a:srgbClr val="0F4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1079500" y="7052525"/>
            <a:ext cx="25401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Séquence AA</a:t>
            </a:r>
            <a:endParaRPr b="0" i="0" sz="1600" u="none" cap="none" strike="noStrike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 acides aminés</a:t>
            </a:r>
            <a:endParaRPr b="0" i="0" sz="1600" u="none" cap="none" strike="noStrike"/>
          </a:p>
        </p:txBody>
      </p:sp>
      <p:cxnSp>
        <p:nvCxnSpPr>
          <p:cNvPr id="182" name="Google Shape;182;p12"/>
          <p:cNvCxnSpPr/>
          <p:nvPr/>
        </p:nvCxnSpPr>
        <p:spPr>
          <a:xfrm>
            <a:off x="3619600" y="7560525"/>
            <a:ext cx="507900" cy="0"/>
          </a:xfrm>
          <a:prstGeom prst="straightConnector1">
            <a:avLst/>
          </a:prstGeom>
          <a:noFill/>
          <a:ln cap="flat" cmpd="sng" w="25400">
            <a:solidFill>
              <a:srgbClr val="5F9EA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3" name="Google Shape;183;p12"/>
          <p:cNvSpPr/>
          <p:nvPr/>
        </p:nvSpPr>
        <p:spPr>
          <a:xfrm>
            <a:off x="4127600" y="7052525"/>
            <a:ext cx="2540100" cy="1016100"/>
          </a:xfrm>
          <a:prstGeom prst="roundRect">
            <a:avLst>
              <a:gd fmla="val 6000" name="adj"/>
            </a:avLst>
          </a:prstGeom>
          <a:solidFill>
            <a:srgbClr val="0F4C5C">
              <a:alpha val="7058"/>
            </a:srgbClr>
          </a:solidFill>
          <a:ln cap="flat" cmpd="sng" w="12700">
            <a:solidFill>
              <a:srgbClr val="0F4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"/>
          <p:cNvSpPr/>
          <p:nvPr/>
        </p:nvSpPr>
        <p:spPr>
          <a:xfrm>
            <a:off x="4127600" y="7052525"/>
            <a:ext cx="25401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Scoring HMM</a:t>
            </a:r>
            <a:endParaRPr b="0" i="0" sz="1600" u="none" cap="none" strike="noStrike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Log-vraisemblance</a:t>
            </a:r>
            <a:endParaRPr b="0" i="0" sz="1600" u="none" cap="none" strike="noStrike"/>
          </a:p>
        </p:txBody>
      </p:sp>
      <p:cxnSp>
        <p:nvCxnSpPr>
          <p:cNvPr id="185" name="Google Shape;185;p12"/>
          <p:cNvCxnSpPr/>
          <p:nvPr/>
        </p:nvCxnSpPr>
        <p:spPr>
          <a:xfrm>
            <a:off x="6667600" y="7560525"/>
            <a:ext cx="507900" cy="0"/>
          </a:xfrm>
          <a:prstGeom prst="straightConnector1">
            <a:avLst/>
          </a:prstGeom>
          <a:noFill/>
          <a:ln cap="flat" cmpd="sng" w="25400">
            <a:solidFill>
              <a:srgbClr val="5F9EA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6" name="Google Shape;186;p12"/>
          <p:cNvSpPr/>
          <p:nvPr/>
        </p:nvSpPr>
        <p:spPr>
          <a:xfrm>
            <a:off x="7175600" y="7052525"/>
            <a:ext cx="2540100" cy="1016100"/>
          </a:xfrm>
          <a:prstGeom prst="roundRect">
            <a:avLst>
              <a:gd fmla="val 6000" name="adj"/>
            </a:avLst>
          </a:prstGeom>
          <a:solidFill>
            <a:srgbClr val="0F4C5C">
              <a:alpha val="7058"/>
            </a:srgbClr>
          </a:solidFill>
          <a:ln cap="flat" cmpd="sng" w="12700">
            <a:solidFill>
              <a:srgbClr val="0F4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7175600" y="7052525"/>
            <a:ext cx="25401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Normalisation</a:t>
            </a:r>
            <a:endParaRPr b="0" i="0" sz="1600" u="none" cap="none" strike="noStrike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 longueur</a:t>
            </a:r>
            <a:endParaRPr b="0" i="0" sz="1600" u="none" cap="none" strike="noStrike"/>
          </a:p>
        </p:txBody>
      </p:sp>
      <p:cxnSp>
        <p:nvCxnSpPr>
          <p:cNvPr id="188" name="Google Shape;188;p12"/>
          <p:cNvCxnSpPr/>
          <p:nvPr/>
        </p:nvCxnSpPr>
        <p:spPr>
          <a:xfrm>
            <a:off x="9715600" y="7560525"/>
            <a:ext cx="507900" cy="0"/>
          </a:xfrm>
          <a:prstGeom prst="straightConnector1">
            <a:avLst/>
          </a:prstGeom>
          <a:noFill/>
          <a:ln cap="flat" cmpd="sng" w="25400">
            <a:solidFill>
              <a:srgbClr val="5F9EA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9" name="Google Shape;189;p12"/>
          <p:cNvSpPr/>
          <p:nvPr/>
        </p:nvSpPr>
        <p:spPr>
          <a:xfrm>
            <a:off x="10223600" y="7052525"/>
            <a:ext cx="2540100" cy="1016100"/>
          </a:xfrm>
          <a:prstGeom prst="roundRect">
            <a:avLst>
              <a:gd fmla="val 6000" name="adj"/>
            </a:avLst>
          </a:prstGeom>
          <a:solidFill>
            <a:srgbClr val="E07A5F">
              <a:alpha val="7058"/>
            </a:srgbClr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"/>
          <p:cNvSpPr/>
          <p:nvPr/>
        </p:nvSpPr>
        <p:spPr>
          <a:xfrm>
            <a:off x="10223600" y="7052525"/>
            <a:ext cx="25401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Décision</a:t>
            </a:r>
            <a:endParaRPr b="0" i="0" sz="1600" u="none" cap="none" strike="noStrike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 pos &gt; Score neg</a:t>
            </a:r>
            <a:endParaRPr b="0" i="0" sz="1600" u="none" cap="none" strike="noStrike"/>
          </a:p>
        </p:txBody>
      </p:sp>
      <p:sp>
        <p:nvSpPr>
          <p:cNvPr id="191" name="Google Shape;191;p12"/>
          <p:cNvSpPr txBox="1"/>
          <p:nvPr/>
        </p:nvSpPr>
        <p:spPr>
          <a:xfrm>
            <a:off x="822825" y="5410300"/>
            <a:ext cx="516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Tdunningvectorization: Own work - Own work, CC BY 3.0, https://commons.wikimedia.org/w/index.php?curid=18125206</a:t>
            </a:r>
            <a:endParaRPr/>
          </a:p>
        </p:txBody>
      </p:sp>
      <p:pic>
        <p:nvPicPr>
          <p:cNvPr id="192" name="Google Shape;19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1" y="1756825"/>
            <a:ext cx="4668775" cy="373502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2"/>
          <p:cNvSpPr txBox="1"/>
          <p:nvPr/>
        </p:nvSpPr>
        <p:spPr>
          <a:xfrm>
            <a:off x="5232275" y="2205325"/>
            <a:ext cx="32511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Figure 1. Probabilistic parameters of a hidden Markov model (example)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solidFill>
                  <a:schemeClr val="dk1"/>
                </a:solidFill>
              </a:rPr>
              <a:t>X</a:t>
            </a:r>
            <a:r>
              <a:rPr lang="en-US" sz="1900">
                <a:solidFill>
                  <a:schemeClr val="dk1"/>
                </a:solidFill>
              </a:rPr>
              <a:t> — states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solidFill>
                  <a:schemeClr val="dk1"/>
                </a:solidFill>
              </a:rPr>
              <a:t>y</a:t>
            </a:r>
            <a:r>
              <a:rPr lang="en-US" sz="1900">
                <a:solidFill>
                  <a:schemeClr val="dk1"/>
                </a:solidFill>
              </a:rPr>
              <a:t> — possible observations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solidFill>
                  <a:schemeClr val="dk1"/>
                </a:solidFill>
              </a:rPr>
              <a:t>a</a:t>
            </a:r>
            <a:r>
              <a:rPr lang="en-US" sz="1900">
                <a:solidFill>
                  <a:schemeClr val="dk1"/>
                </a:solidFill>
              </a:rPr>
              <a:t> — state transition probabilities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solidFill>
                  <a:schemeClr val="dk1"/>
                </a:solidFill>
              </a:rPr>
              <a:t>b</a:t>
            </a:r>
            <a:r>
              <a:rPr lang="en-US" sz="1900">
                <a:solidFill>
                  <a:schemeClr val="dk1"/>
                </a:solidFill>
              </a:rPr>
              <a:t> — output probabilities</a:t>
            </a:r>
            <a:endParaRPr sz="220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3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6502400" y="8763000"/>
            <a:ext cx="3251200" cy="381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6756400" y="8763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 RÉSULTATS</a:t>
            </a:r>
            <a:endParaRPr b="0" i="0" sz="1200" u="none" cap="none" strike="noStrike"/>
          </a:p>
        </p:txBody>
      </p:sp>
      <p:sp>
        <p:nvSpPr>
          <p:cNvPr id="202" name="Google Shape;202;p13"/>
          <p:cNvSpPr/>
          <p:nvPr/>
        </p:nvSpPr>
        <p:spPr>
          <a:xfrm>
            <a:off x="15240000" y="8763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b="0" i="0" sz="1200" u="none" cap="none" strike="noStrike"/>
          </a:p>
        </p:txBody>
      </p:sp>
      <p:sp>
        <p:nvSpPr>
          <p:cNvPr id="203" name="Google Shape;203;p13"/>
          <p:cNvSpPr/>
          <p:nvPr/>
        </p:nvSpPr>
        <p:spPr>
          <a:xfrm>
            <a:off x="762000" y="508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du HMM</a:t>
            </a:r>
            <a:endParaRPr b="0" i="0" sz="3200" u="none" cap="none" strike="noStrike"/>
          </a:p>
        </p:txBody>
      </p:sp>
      <p:sp>
        <p:nvSpPr>
          <p:cNvPr id="204" name="Google Shape;204;p13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762000" y="1397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Matrice de Confusion</a:t>
            </a:r>
            <a:endParaRPr b="0" i="0" sz="2200" u="none" cap="none" strike="noStrike"/>
          </a:p>
        </p:txBody>
      </p:sp>
      <p:graphicFrame>
        <p:nvGraphicFramePr>
          <p:cNvPr id="206" name="Google Shape;206;p13"/>
          <p:cNvGraphicFramePr/>
          <p:nvPr/>
        </p:nvGraphicFramePr>
        <p:xfrm>
          <a:off x="762000" y="196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{A40BF4B6-8311-479B-96AD-9B1DDCC40F31}</a:tableStyleId>
              </a:tblPr>
              <a:tblGrid>
                <a:gridCol w="2072650"/>
                <a:gridCol w="2011675"/>
                <a:gridCol w="2011675"/>
              </a:tblGrid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Prédit +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Prédit −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Réel +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4C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751</a:t>
                      </a:r>
                      <a:r>
                        <a:rPr lang="en-US" sz="1600" u="none" cap="none" strike="noStrike">
                          <a:solidFill>
                            <a:srgbClr val="0F4C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(TP)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>
                        <a:alpha val="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249</a:t>
                      </a: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(FN)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Réel −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192</a:t>
                      </a: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(FP)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4C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808</a:t>
                      </a:r>
                      <a:r>
                        <a:rPr lang="en-US" sz="1600" u="none" cap="none" strike="noStrike">
                          <a:solidFill>
                            <a:srgbClr val="0F4C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(TN)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>
                        <a:alpha val="902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7" name="Google Shape;207;p13"/>
          <p:cNvSpPr/>
          <p:nvPr/>
        </p:nvSpPr>
        <p:spPr>
          <a:xfrm>
            <a:off x="762000" y="4635500"/>
            <a:ext cx="6096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Jeu de test : 500 positifs + 500 négatifs = 1000 séquences</a:t>
            </a:r>
            <a:endParaRPr b="0" i="0" sz="1400" u="none" cap="none" strike="noStrike"/>
          </a:p>
        </p:txBody>
      </p:sp>
      <p:sp>
        <p:nvSpPr>
          <p:cNvPr id="208" name="Google Shape;208;p13"/>
          <p:cNvSpPr/>
          <p:nvPr/>
        </p:nvSpPr>
        <p:spPr>
          <a:xfrm>
            <a:off x="7620000" y="1397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Métriques de Performance</a:t>
            </a:r>
            <a:endParaRPr b="0" i="0" sz="2200" u="none" cap="none" strike="noStrike"/>
          </a:p>
        </p:txBody>
      </p:sp>
      <p:sp>
        <p:nvSpPr>
          <p:cNvPr id="209" name="Google Shape;209;p13"/>
          <p:cNvSpPr/>
          <p:nvPr/>
        </p:nvSpPr>
        <p:spPr>
          <a:xfrm>
            <a:off x="7620000" y="1968500"/>
            <a:ext cx="3556000" cy="1397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7620000" y="2032000"/>
            <a:ext cx="3556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0.78</a:t>
            </a:r>
            <a:endParaRPr b="0" i="0" sz="4000" u="none" cap="none" strike="noStrike"/>
          </a:p>
        </p:txBody>
      </p:sp>
      <p:sp>
        <p:nvSpPr>
          <p:cNvPr id="211" name="Google Shape;211;p13"/>
          <p:cNvSpPr/>
          <p:nvPr/>
        </p:nvSpPr>
        <p:spPr>
          <a:xfrm>
            <a:off x="7620000" y="2794000"/>
            <a:ext cx="3556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</a:t>
            </a:r>
            <a:endParaRPr b="0" i="0" sz="1400" u="none" cap="none" strike="noStrike"/>
          </a:p>
        </p:txBody>
      </p:sp>
      <p:sp>
        <p:nvSpPr>
          <p:cNvPr id="212" name="Google Shape;212;p13"/>
          <p:cNvSpPr/>
          <p:nvPr/>
        </p:nvSpPr>
        <p:spPr>
          <a:xfrm>
            <a:off x="11430000" y="1968500"/>
            <a:ext cx="4064000" cy="1397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"/>
          <p:cNvSpPr/>
          <p:nvPr/>
        </p:nvSpPr>
        <p:spPr>
          <a:xfrm>
            <a:off x="11430000" y="2032000"/>
            <a:ext cx="4064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0.76</a:t>
            </a:r>
            <a:endParaRPr b="0" i="0" sz="4000" u="none" cap="none" strike="noStrike"/>
          </a:p>
        </p:txBody>
      </p:sp>
      <p:sp>
        <p:nvSpPr>
          <p:cNvPr id="214" name="Google Shape;214;p13"/>
          <p:cNvSpPr/>
          <p:nvPr/>
        </p:nvSpPr>
        <p:spPr>
          <a:xfrm>
            <a:off x="11430000" y="2794000"/>
            <a:ext cx="4064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Précision</a:t>
            </a:r>
            <a:endParaRPr b="0" i="0" sz="1400" u="none" cap="none" strike="noStrike"/>
          </a:p>
        </p:txBody>
      </p:sp>
      <p:sp>
        <p:nvSpPr>
          <p:cNvPr id="215" name="Google Shape;215;p13"/>
          <p:cNvSpPr/>
          <p:nvPr/>
        </p:nvSpPr>
        <p:spPr>
          <a:xfrm>
            <a:off x="7620000" y="3556000"/>
            <a:ext cx="3556000" cy="1397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7620000" y="3619500"/>
            <a:ext cx="3556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0.81</a:t>
            </a:r>
            <a:endParaRPr b="0" i="0" sz="4000" u="none" cap="none" strike="noStrike"/>
          </a:p>
        </p:txBody>
      </p:sp>
      <p:sp>
        <p:nvSpPr>
          <p:cNvPr id="217" name="Google Shape;217;p13"/>
          <p:cNvSpPr/>
          <p:nvPr/>
        </p:nvSpPr>
        <p:spPr>
          <a:xfrm>
            <a:off x="7620000" y="4381500"/>
            <a:ext cx="3555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Rappel</a:t>
            </a:r>
            <a:endParaRPr b="0" i="0" sz="1400" u="none" cap="none" strike="noStrike"/>
          </a:p>
        </p:txBody>
      </p:sp>
      <p:sp>
        <p:nvSpPr>
          <p:cNvPr id="218" name="Google Shape;218;p13"/>
          <p:cNvSpPr/>
          <p:nvPr/>
        </p:nvSpPr>
        <p:spPr>
          <a:xfrm>
            <a:off x="11430000" y="3556000"/>
            <a:ext cx="4064000" cy="1397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11430000" y="3619500"/>
            <a:ext cx="4064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0.79</a:t>
            </a:r>
            <a:endParaRPr b="0" i="0" sz="4000" u="none" cap="none" strike="noStrike"/>
          </a:p>
        </p:txBody>
      </p:sp>
      <p:sp>
        <p:nvSpPr>
          <p:cNvPr id="220" name="Google Shape;220;p13"/>
          <p:cNvSpPr/>
          <p:nvPr/>
        </p:nvSpPr>
        <p:spPr>
          <a:xfrm>
            <a:off x="11430000" y="4381500"/>
            <a:ext cx="4064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B6B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F1-Score</a:t>
            </a:r>
            <a:endParaRPr b="0" i="0" sz="1400" u="none" cap="none" strike="noStrike"/>
          </a:p>
        </p:txBody>
      </p:sp>
      <p:sp>
        <p:nvSpPr>
          <p:cNvPr id="221" name="Google Shape;221;p13"/>
          <p:cNvSpPr/>
          <p:nvPr/>
        </p:nvSpPr>
        <p:spPr>
          <a:xfrm>
            <a:off x="762000" y="5334000"/>
            <a:ext cx="14732000" cy="2921000"/>
          </a:xfrm>
          <a:prstGeom prst="roundRect">
            <a:avLst>
              <a:gd fmla="val 4000" name="adj"/>
            </a:avLst>
          </a:prstGeom>
          <a:solidFill>
            <a:srgbClr val="0F4C5C">
              <a:alpha val="5098"/>
            </a:srgbClr>
          </a:solidFill>
          <a:ln cap="flat" cmpd="sng" w="12700">
            <a:solidFill>
              <a:srgbClr val="0F4C5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1079500" y="55245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Interprétation</a:t>
            </a:r>
            <a:endParaRPr b="0" i="0" sz="2200" u="none" cap="none" strike="noStrike"/>
          </a:p>
        </p:txBody>
      </p:sp>
      <p:sp>
        <p:nvSpPr>
          <p:cNvPr id="223" name="Google Shape;223;p13"/>
          <p:cNvSpPr/>
          <p:nvPr/>
        </p:nvSpPr>
        <p:spPr>
          <a:xfrm>
            <a:off x="1079500" y="6032500"/>
            <a:ext cx="140970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HMM capture </a:t>
            </a: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efficacement les signatures hydrophobes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des segments transmembranaires. Le rappel de 0.81 indique une bonne sensibilité : peu de protéines membranaires réelles sont manquées.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précision de 0.76 montre un taux de faux positifs modéré, acceptable pour un filtre de première intention. Le F1-score de </a:t>
            </a: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0.79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confirme un bon équilibre global pour une méthode probabiliste simple.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Performance satisfaisante pour un modèle sans information évolutionnaire.</a:t>
            </a:r>
            <a:endParaRPr b="0" i="0" sz="18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3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9753600" y="8763000"/>
            <a:ext cx="3251200" cy="381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10007600" y="8763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 COMPARAISON</a:t>
            </a:r>
            <a:endParaRPr b="0" i="0" sz="1200" u="none" cap="none" strike="noStrike"/>
          </a:p>
        </p:txBody>
      </p:sp>
      <p:sp>
        <p:nvSpPr>
          <p:cNvPr id="232" name="Google Shape;232;p14"/>
          <p:cNvSpPr/>
          <p:nvPr/>
        </p:nvSpPr>
        <p:spPr>
          <a:xfrm>
            <a:off x="15240000" y="8763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 b="0" i="0" sz="1200" u="none" cap="none" strike="noStrike"/>
          </a:p>
        </p:txBody>
      </p:sp>
      <p:sp>
        <p:nvSpPr>
          <p:cNvPr id="233" name="Google Shape;233;p14"/>
          <p:cNvSpPr/>
          <p:nvPr/>
        </p:nvSpPr>
        <p:spPr>
          <a:xfrm>
            <a:off x="762000" y="508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Comparaison avec DeepTMHMM</a:t>
            </a:r>
            <a:endParaRPr b="0" i="0" sz="3200" u="none" cap="none" strike="noStrike"/>
          </a:p>
        </p:txBody>
      </p:sp>
      <p:sp>
        <p:nvSpPr>
          <p:cNvPr id="234" name="Google Shape;234;p14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4388650" y="1800650"/>
            <a:ext cx="3410700" cy="3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F9EA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Précision : 1.00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Prédit membranaire uniquement en cas de forte confiance — quasi zero faux positif.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F9EA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Rappel : ~0.71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Manque certains cas borderline ou atypiques (faible signal hydrophobe).</a:t>
            </a:r>
            <a:endParaRPr b="0" i="0" sz="1800" u="none" cap="none" strike="noStrike"/>
          </a:p>
        </p:txBody>
      </p:sp>
      <p:sp>
        <p:nvSpPr>
          <p:cNvPr id="236" name="Google Shape;236;p14"/>
          <p:cNvSpPr/>
          <p:nvPr/>
        </p:nvSpPr>
        <p:spPr>
          <a:xfrm>
            <a:off x="11915800" y="1644000"/>
            <a:ext cx="2921100" cy="3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Précision :</a:t>
            </a:r>
            <a:r>
              <a:rPr b="1" i="0" lang="en-US" sz="16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0</a:t>
            </a:r>
            <a:r>
              <a:rPr b="1" i="0" lang="en-US" sz="16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1" lang="en-US" sz="1600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Plus tolérant — accepte certains faux positifs pour ne rien manquer.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Rappel : 0.</a:t>
            </a:r>
            <a:r>
              <a:rPr b="1" lang="en-US" sz="1600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92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Meilleure détection des cas difficiles : protéines atypiques, signaux faibles.</a:t>
            </a:r>
            <a:endParaRPr b="0" i="0" sz="1800" u="none" cap="none" strike="noStrike"/>
          </a:p>
        </p:txBody>
      </p:sp>
      <p:sp>
        <p:nvSpPr>
          <p:cNvPr id="237" name="Google Shape;237;p14"/>
          <p:cNvSpPr/>
          <p:nvPr/>
        </p:nvSpPr>
        <p:spPr>
          <a:xfrm>
            <a:off x="762000" y="5905500"/>
            <a:ext cx="14732100" cy="2349600"/>
          </a:xfrm>
          <a:prstGeom prst="roundRect">
            <a:avLst>
              <a:gd fmla="val 4000" name="adj"/>
            </a:avLst>
          </a:prstGeom>
          <a:solidFill>
            <a:srgbClr val="E07A5F">
              <a:alpha val="6274"/>
            </a:srgbClr>
          </a:solidFill>
          <a:ln cap="flat" cmpd="sng" w="12700">
            <a:solidFill>
              <a:srgbClr val="E07A5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1079500" y="60706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 sur les comparaisons</a:t>
            </a:r>
            <a:endParaRPr b="0" i="0" sz="2200" u="none" cap="none" strike="noStrike"/>
          </a:p>
        </p:txBody>
      </p:sp>
      <p:sp>
        <p:nvSpPr>
          <p:cNvPr id="239" name="Google Shape;239;p14"/>
          <p:cNvSpPr/>
          <p:nvPr/>
        </p:nvSpPr>
        <p:spPr>
          <a:xfrm>
            <a:off x="1219825" y="6528800"/>
            <a:ext cx="14097000" cy="16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Réalité</a:t>
            </a:r>
            <a:r>
              <a:rPr lang="en-US" sz="16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du training: SwissProt</a:t>
            </a:r>
            <a:endParaRPr sz="1600">
              <a:solidFill>
                <a:srgbClr val="1C1C1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Point négatif:</a:t>
            </a:r>
            <a:r>
              <a:rPr lang="en-US" sz="16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Réalité de la biologie vs Réalité des tags</a:t>
            </a:r>
            <a:endParaRPr sz="1600">
              <a:solidFill>
                <a:srgbClr val="1C1C1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=&gt; </a:t>
            </a:r>
            <a:r>
              <a:rPr b="1" lang="en-US" sz="16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Comparaison</a:t>
            </a:r>
            <a:r>
              <a:rPr lang="en-US" sz="16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avec un meilleur modèle existant</a:t>
            </a:r>
            <a:endParaRPr sz="1600">
              <a:solidFill>
                <a:srgbClr val="1C1C1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982225" y="1502250"/>
            <a:ext cx="253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DeepTMHMM vs Réel</a:t>
            </a:r>
            <a:endParaRPr b="0" i="0" sz="2200" u="none" cap="none" strike="noStrike"/>
          </a:p>
        </p:txBody>
      </p:sp>
      <p:graphicFrame>
        <p:nvGraphicFramePr>
          <p:cNvPr id="241" name="Google Shape;241;p14"/>
          <p:cNvGraphicFramePr/>
          <p:nvPr/>
        </p:nvGraphicFramePr>
        <p:xfrm>
          <a:off x="762000" y="1981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{A40BF4B6-8311-479B-96AD-9B1DDCC40F31}</a:tableStyleId>
              </a:tblPr>
              <a:tblGrid>
                <a:gridCol w="913425"/>
                <a:gridCol w="1163450"/>
                <a:gridCol w="1244475"/>
              </a:tblGrid>
              <a:tr h="75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Prédit +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Prédit −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</a:tr>
              <a:tr h="112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Réel +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4C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1000</a:t>
                      </a:r>
                      <a:r>
                        <a:rPr lang="en-US" sz="1600" u="none" cap="none" strike="noStrike">
                          <a:solidFill>
                            <a:srgbClr val="0F4C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(TP)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>
                        <a:alpha val="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</a:t>
                      </a: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(FN)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2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Réel −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292</a:t>
                      </a: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(FP)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4C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708</a:t>
                      </a:r>
                      <a:r>
                        <a:rPr lang="en-US" sz="1600" u="none" cap="none" strike="noStrike">
                          <a:solidFill>
                            <a:srgbClr val="0F4C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(TN)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>
                        <a:alpha val="902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14"/>
          <p:cNvSpPr/>
          <p:nvPr/>
        </p:nvSpPr>
        <p:spPr>
          <a:xfrm>
            <a:off x="8466475" y="1502250"/>
            <a:ext cx="2782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HMM vs DeepTMHMM</a:t>
            </a:r>
            <a:endParaRPr b="0" i="0" sz="2200" u="none" cap="none" strike="noStrike"/>
          </a:p>
        </p:txBody>
      </p:sp>
      <p:graphicFrame>
        <p:nvGraphicFramePr>
          <p:cNvPr id="243" name="Google Shape;243;p14"/>
          <p:cNvGraphicFramePr/>
          <p:nvPr/>
        </p:nvGraphicFramePr>
        <p:xfrm>
          <a:off x="8104650" y="198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{A40BF4B6-8311-479B-96AD-9B1DDCC40F31}</a:tableStyleId>
              </a:tblPr>
              <a:tblGrid>
                <a:gridCol w="938000"/>
                <a:gridCol w="1194750"/>
                <a:gridCol w="1277950"/>
              </a:tblGrid>
              <a:tr h="75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Prédit +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Prédit −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</a:tr>
              <a:tr h="112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Réel +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4C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888</a:t>
                      </a:r>
                      <a:r>
                        <a:rPr lang="en-US" sz="1600" u="none" cap="none" strike="noStrike">
                          <a:solidFill>
                            <a:srgbClr val="0F4C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(TP)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>
                        <a:alpha val="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404</a:t>
                      </a: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(FN)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2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Réel −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55</a:t>
                      </a:r>
                      <a:r>
                        <a:rPr lang="en-US" sz="1600" u="none" cap="none" strike="noStrike">
                          <a:solidFill>
                            <a:srgbClr val="1C1C1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(FP)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4C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653</a:t>
                      </a:r>
                      <a:r>
                        <a:rPr lang="en-US" sz="1600" u="none" cap="none" strike="noStrike">
                          <a:solidFill>
                            <a:srgbClr val="0F4C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(TN)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>
                        <a:alpha val="902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3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5"/>
          <p:cNvSpPr/>
          <p:nvPr/>
        </p:nvSpPr>
        <p:spPr>
          <a:xfrm>
            <a:off x="0" y="8763000"/>
            <a:ext cx="3251200" cy="381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"/>
          <p:cNvSpPr/>
          <p:nvPr/>
        </p:nvSpPr>
        <p:spPr>
          <a:xfrm>
            <a:off x="254000" y="8763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 PERSPECTIVES</a:t>
            </a:r>
            <a:endParaRPr b="0" i="0" sz="1200" u="none" cap="none" strike="noStrike"/>
          </a:p>
        </p:txBody>
      </p:sp>
      <p:sp>
        <p:nvSpPr>
          <p:cNvPr id="252" name="Google Shape;252;p15"/>
          <p:cNvSpPr/>
          <p:nvPr/>
        </p:nvSpPr>
        <p:spPr>
          <a:xfrm>
            <a:off x="15240000" y="8763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1200" u="none" cap="none" strike="noStrike"/>
          </a:p>
        </p:txBody>
      </p:sp>
      <p:sp>
        <p:nvSpPr>
          <p:cNvPr id="253" name="Google Shape;253;p15"/>
          <p:cNvSpPr/>
          <p:nvPr/>
        </p:nvSpPr>
        <p:spPr>
          <a:xfrm>
            <a:off x="762000" y="508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4C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Limites &amp; Perspectives</a:t>
            </a:r>
            <a:endParaRPr b="0" i="0" sz="3200" u="none" cap="none" strike="noStrike"/>
          </a:p>
        </p:txBody>
      </p:sp>
      <p:sp>
        <p:nvSpPr>
          <p:cNvPr id="254" name="Google Shape;254;p15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762000" y="1460500"/>
            <a:ext cx="7112000" cy="5080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762000" y="14605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LIMITES ACTUELLES</a:t>
            </a:r>
            <a:endParaRPr b="0" i="0" sz="1600" u="none" cap="none" strike="noStrike"/>
          </a:p>
        </p:txBody>
      </p:sp>
      <p:sp>
        <p:nvSpPr>
          <p:cNvPr id="257" name="Google Shape;257;p15"/>
          <p:cNvSpPr/>
          <p:nvPr/>
        </p:nvSpPr>
        <p:spPr>
          <a:xfrm>
            <a:off x="762000" y="1968500"/>
            <a:ext cx="7112100" cy="63501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1117600" y="2260600"/>
            <a:ext cx="228600" cy="304800"/>
          </a:xfrm>
          <a:custGeom>
            <a:rect b="b" l="l" r="r" t="t"/>
            <a:pathLst>
              <a:path extrusionOk="0" h="304800" w="228600">
                <a:moveTo>
                  <a:pt x="32802" y="43696"/>
                </a:moveTo>
                <a:cubicBezTo>
                  <a:pt x="25360" y="36255"/>
                  <a:pt x="13275" y="36255"/>
                  <a:pt x="5834" y="43696"/>
                </a:cubicBezTo>
                <a:cubicBezTo>
                  <a:pt x="-1607" y="51137"/>
                  <a:pt x="-1607" y="63222"/>
                  <a:pt x="5834" y="70664"/>
                </a:cubicBezTo>
                <a:lnTo>
                  <a:pt x="87630" y="152400"/>
                </a:lnTo>
                <a:lnTo>
                  <a:pt x="5894" y="234196"/>
                </a:lnTo>
                <a:cubicBezTo>
                  <a:pt x="-1548" y="241637"/>
                  <a:pt x="-1548" y="253722"/>
                  <a:pt x="5894" y="261164"/>
                </a:cubicBezTo>
                <a:cubicBezTo>
                  <a:pt x="13335" y="268605"/>
                  <a:pt x="25420" y="268605"/>
                  <a:pt x="32861" y="261164"/>
                </a:cubicBezTo>
                <a:lnTo>
                  <a:pt x="114598" y="179368"/>
                </a:lnTo>
                <a:lnTo>
                  <a:pt x="196394" y="261104"/>
                </a:lnTo>
                <a:cubicBezTo>
                  <a:pt x="203835" y="268545"/>
                  <a:pt x="215920" y="268545"/>
                  <a:pt x="223361" y="261104"/>
                </a:cubicBezTo>
                <a:cubicBezTo>
                  <a:pt x="230803" y="253663"/>
                  <a:pt x="230803" y="241578"/>
                  <a:pt x="223361" y="234136"/>
                </a:cubicBezTo>
                <a:lnTo>
                  <a:pt x="141565" y="152400"/>
                </a:lnTo>
                <a:lnTo>
                  <a:pt x="223302" y="70604"/>
                </a:lnTo>
                <a:cubicBezTo>
                  <a:pt x="230743" y="63163"/>
                  <a:pt x="230743" y="51078"/>
                  <a:pt x="223302" y="43636"/>
                </a:cubicBezTo>
                <a:cubicBezTo>
                  <a:pt x="215860" y="36195"/>
                  <a:pt x="203775" y="36195"/>
                  <a:pt x="196334" y="43636"/>
                </a:cubicBezTo>
                <a:lnTo>
                  <a:pt x="114598" y="125432"/>
                </a:lnTo>
                <a:lnTo>
                  <a:pt x="32802" y="43696"/>
                </a:lnTo>
                <a:close/>
              </a:path>
            </a:pathLst>
          </a:custGeom>
          <a:solidFill>
            <a:srgbClr val="8B4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1524000" y="2184400"/>
            <a:ext cx="6096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 de modélisation topologique fine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nombre d'hélices, orientation N-term/C-term non prédits</a:t>
            </a:r>
            <a:endParaRPr b="0" i="0" sz="1800" u="none" cap="none" strike="noStrike"/>
          </a:p>
        </p:txBody>
      </p:sp>
      <p:sp>
        <p:nvSpPr>
          <p:cNvPr id="260" name="Google Shape;260;p15"/>
          <p:cNvSpPr/>
          <p:nvPr/>
        </p:nvSpPr>
        <p:spPr>
          <a:xfrm>
            <a:off x="1117600" y="3149600"/>
            <a:ext cx="228600" cy="304800"/>
          </a:xfrm>
          <a:custGeom>
            <a:rect b="b" l="l" r="r" t="t"/>
            <a:pathLst>
              <a:path extrusionOk="0" h="304800" w="228600">
                <a:moveTo>
                  <a:pt x="32802" y="43696"/>
                </a:moveTo>
                <a:cubicBezTo>
                  <a:pt x="25360" y="36255"/>
                  <a:pt x="13275" y="36255"/>
                  <a:pt x="5834" y="43696"/>
                </a:cubicBezTo>
                <a:cubicBezTo>
                  <a:pt x="-1607" y="51137"/>
                  <a:pt x="-1607" y="63222"/>
                  <a:pt x="5834" y="70664"/>
                </a:cubicBezTo>
                <a:lnTo>
                  <a:pt x="87630" y="152400"/>
                </a:lnTo>
                <a:lnTo>
                  <a:pt x="5894" y="234196"/>
                </a:lnTo>
                <a:cubicBezTo>
                  <a:pt x="-1548" y="241637"/>
                  <a:pt x="-1548" y="253722"/>
                  <a:pt x="5894" y="261164"/>
                </a:cubicBezTo>
                <a:cubicBezTo>
                  <a:pt x="13335" y="268605"/>
                  <a:pt x="25420" y="268605"/>
                  <a:pt x="32861" y="261164"/>
                </a:cubicBezTo>
                <a:lnTo>
                  <a:pt x="114598" y="179368"/>
                </a:lnTo>
                <a:lnTo>
                  <a:pt x="196394" y="261104"/>
                </a:lnTo>
                <a:cubicBezTo>
                  <a:pt x="203835" y="268545"/>
                  <a:pt x="215920" y="268545"/>
                  <a:pt x="223361" y="261104"/>
                </a:cubicBezTo>
                <a:cubicBezTo>
                  <a:pt x="230803" y="253663"/>
                  <a:pt x="230803" y="241578"/>
                  <a:pt x="223361" y="234136"/>
                </a:cubicBezTo>
                <a:lnTo>
                  <a:pt x="141565" y="152400"/>
                </a:lnTo>
                <a:lnTo>
                  <a:pt x="223302" y="70604"/>
                </a:lnTo>
                <a:cubicBezTo>
                  <a:pt x="230743" y="63163"/>
                  <a:pt x="230743" y="51078"/>
                  <a:pt x="223302" y="43636"/>
                </a:cubicBezTo>
                <a:cubicBezTo>
                  <a:pt x="215860" y="36195"/>
                  <a:pt x="203775" y="36195"/>
                  <a:pt x="196334" y="43636"/>
                </a:cubicBezTo>
                <a:lnTo>
                  <a:pt x="114598" y="125432"/>
                </a:lnTo>
                <a:lnTo>
                  <a:pt x="32802" y="43696"/>
                </a:lnTo>
                <a:close/>
              </a:path>
            </a:pathLst>
          </a:custGeom>
          <a:solidFill>
            <a:srgbClr val="8B4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1524000" y="3073400"/>
            <a:ext cx="6096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 d'information évolutionnaire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pas de MSA ni de profils de conservation utilisés</a:t>
            </a:r>
            <a:endParaRPr b="0" i="0" sz="1800" u="none" cap="none" strike="noStrike"/>
          </a:p>
        </p:txBody>
      </p:sp>
      <p:sp>
        <p:nvSpPr>
          <p:cNvPr id="262" name="Google Shape;262;p15"/>
          <p:cNvSpPr/>
          <p:nvPr/>
        </p:nvSpPr>
        <p:spPr>
          <a:xfrm>
            <a:off x="1117600" y="4038600"/>
            <a:ext cx="228600" cy="304800"/>
          </a:xfrm>
          <a:custGeom>
            <a:rect b="b" l="l" r="r" t="t"/>
            <a:pathLst>
              <a:path extrusionOk="0" h="304800" w="228600">
                <a:moveTo>
                  <a:pt x="32802" y="43696"/>
                </a:moveTo>
                <a:cubicBezTo>
                  <a:pt x="25360" y="36255"/>
                  <a:pt x="13275" y="36255"/>
                  <a:pt x="5834" y="43696"/>
                </a:cubicBezTo>
                <a:cubicBezTo>
                  <a:pt x="-1607" y="51137"/>
                  <a:pt x="-1607" y="63222"/>
                  <a:pt x="5834" y="70664"/>
                </a:cubicBezTo>
                <a:lnTo>
                  <a:pt x="87630" y="152400"/>
                </a:lnTo>
                <a:lnTo>
                  <a:pt x="5894" y="234196"/>
                </a:lnTo>
                <a:cubicBezTo>
                  <a:pt x="-1548" y="241637"/>
                  <a:pt x="-1548" y="253722"/>
                  <a:pt x="5894" y="261164"/>
                </a:cubicBezTo>
                <a:cubicBezTo>
                  <a:pt x="13335" y="268605"/>
                  <a:pt x="25420" y="268605"/>
                  <a:pt x="32861" y="261164"/>
                </a:cubicBezTo>
                <a:lnTo>
                  <a:pt x="114598" y="179368"/>
                </a:lnTo>
                <a:lnTo>
                  <a:pt x="196394" y="261104"/>
                </a:lnTo>
                <a:cubicBezTo>
                  <a:pt x="203835" y="268545"/>
                  <a:pt x="215920" y="268545"/>
                  <a:pt x="223361" y="261104"/>
                </a:cubicBezTo>
                <a:cubicBezTo>
                  <a:pt x="230803" y="253663"/>
                  <a:pt x="230803" y="241578"/>
                  <a:pt x="223361" y="234136"/>
                </a:cubicBezTo>
                <a:lnTo>
                  <a:pt x="141565" y="152400"/>
                </a:lnTo>
                <a:lnTo>
                  <a:pt x="223302" y="70604"/>
                </a:lnTo>
                <a:cubicBezTo>
                  <a:pt x="230743" y="63163"/>
                  <a:pt x="230743" y="51078"/>
                  <a:pt x="223302" y="43636"/>
                </a:cubicBezTo>
                <a:cubicBezTo>
                  <a:pt x="215860" y="36195"/>
                  <a:pt x="203775" y="36195"/>
                  <a:pt x="196334" y="43636"/>
                </a:cubicBezTo>
                <a:lnTo>
                  <a:pt x="114598" y="125432"/>
                </a:lnTo>
                <a:lnTo>
                  <a:pt x="32802" y="43696"/>
                </a:lnTo>
                <a:close/>
              </a:path>
            </a:pathLst>
          </a:custGeom>
          <a:solidFill>
            <a:srgbClr val="8B4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"/>
          <p:cNvSpPr/>
          <p:nvPr/>
        </p:nvSpPr>
        <p:spPr>
          <a:xfrm>
            <a:off x="1524000" y="3962400"/>
            <a:ext cx="60960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Hypothèse markovienne d'ordre 1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ne modélise pas les dépendances longues entre résidus</a:t>
            </a:r>
            <a:endParaRPr b="0" i="0" sz="1800" u="none" cap="none" strike="noStrike"/>
          </a:p>
        </p:txBody>
      </p:sp>
      <p:sp>
        <p:nvSpPr>
          <p:cNvPr id="264" name="Google Shape;264;p15"/>
          <p:cNvSpPr/>
          <p:nvPr/>
        </p:nvSpPr>
        <p:spPr>
          <a:xfrm>
            <a:off x="8382000" y="1460500"/>
            <a:ext cx="7112000" cy="508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8382000" y="14605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PERSPECTIVES</a:t>
            </a:r>
            <a:endParaRPr b="0" i="0" sz="1600" u="none" cap="none" strike="noStrike"/>
          </a:p>
        </p:txBody>
      </p:sp>
      <p:sp>
        <p:nvSpPr>
          <p:cNvPr id="266" name="Google Shape;266;p15"/>
          <p:cNvSpPr/>
          <p:nvPr/>
        </p:nvSpPr>
        <p:spPr>
          <a:xfrm>
            <a:off x="8382000" y="1968500"/>
            <a:ext cx="7112000" cy="635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8699500" y="2260600"/>
            <a:ext cx="304800" cy="304800"/>
          </a:xfrm>
          <a:custGeom>
            <a:rect b="b" l="l" r="r" t="t"/>
            <a:pathLst>
              <a:path extrusionOk="0" h="304800" w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9144000" y="2184400"/>
            <a:ext cx="6096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 hybride HMM + NN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neural HMM pour combiner interprétabilité et puissance</a:t>
            </a:r>
            <a:endParaRPr b="0" i="0" sz="1800" u="none" cap="none" strike="noStrike"/>
          </a:p>
        </p:txBody>
      </p:sp>
      <p:sp>
        <p:nvSpPr>
          <p:cNvPr id="269" name="Google Shape;269;p15"/>
          <p:cNvSpPr/>
          <p:nvPr/>
        </p:nvSpPr>
        <p:spPr>
          <a:xfrm>
            <a:off x="8699500" y="3149600"/>
            <a:ext cx="304800" cy="304800"/>
          </a:xfrm>
          <a:custGeom>
            <a:rect b="b" l="l" r="r" t="t"/>
            <a:pathLst>
              <a:path extrusionOk="0" h="304800" w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9144000" y="3073400"/>
            <a:ext cx="6096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Stacking avec DeepTMHMM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HMM comme filtre, DeepTMHMM pour la confirmation</a:t>
            </a:r>
            <a:endParaRPr b="0" i="0" sz="1800" u="none" cap="none" strike="noStrike"/>
          </a:p>
        </p:txBody>
      </p:sp>
      <p:sp>
        <p:nvSpPr>
          <p:cNvPr id="271" name="Google Shape;271;p15"/>
          <p:cNvSpPr/>
          <p:nvPr/>
        </p:nvSpPr>
        <p:spPr>
          <a:xfrm>
            <a:off x="8699500" y="3975100"/>
            <a:ext cx="304800" cy="304800"/>
          </a:xfrm>
          <a:custGeom>
            <a:rect b="b" l="l" r="r" t="t"/>
            <a:pathLst>
              <a:path extrusionOk="0" h="304800" w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9144000" y="3898900"/>
            <a:ext cx="60960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du seuil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apprentissage du seuil par SVM ou régression logistique</a:t>
            </a:r>
            <a:endParaRPr b="0" i="0" sz="1800" u="none" cap="none" strike="noStrike"/>
          </a:p>
        </p:txBody>
      </p:sp>
      <p:sp>
        <p:nvSpPr>
          <p:cNvPr id="273" name="Google Shape;273;p15"/>
          <p:cNvSpPr/>
          <p:nvPr/>
        </p:nvSpPr>
        <p:spPr>
          <a:xfrm>
            <a:off x="8699500" y="4864100"/>
            <a:ext cx="304800" cy="304800"/>
          </a:xfrm>
          <a:custGeom>
            <a:rect b="b" l="l" r="r" t="t"/>
            <a:pathLst>
              <a:path extrusionOk="0" h="304800" w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0F4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9144000" y="4787900"/>
            <a:ext cx="60960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Extension topologique</a:t>
            </a:r>
            <a:r>
              <a:rPr b="0" i="0" lang="en-US" sz="1600" u="none" cap="none" strike="noStrike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prédiction du nombre et de la position des segments TM</a:t>
            </a:r>
            <a:endParaRPr b="0" i="0" sz="1800" u="none" cap="none" strike="noStrike"/>
          </a:p>
        </p:txBody>
      </p:sp>
      <p:sp>
        <p:nvSpPr>
          <p:cNvPr id="275" name="Google Shape;275;p15"/>
          <p:cNvSpPr/>
          <p:nvPr/>
        </p:nvSpPr>
        <p:spPr>
          <a:xfrm>
            <a:off x="1117600" y="4927700"/>
            <a:ext cx="228600" cy="304800"/>
          </a:xfrm>
          <a:custGeom>
            <a:rect b="b" l="l" r="r" t="t"/>
            <a:pathLst>
              <a:path extrusionOk="0" h="304800" w="228600">
                <a:moveTo>
                  <a:pt x="32802" y="43696"/>
                </a:moveTo>
                <a:cubicBezTo>
                  <a:pt x="25360" y="36255"/>
                  <a:pt x="13275" y="36255"/>
                  <a:pt x="5834" y="43696"/>
                </a:cubicBezTo>
                <a:cubicBezTo>
                  <a:pt x="-1607" y="51137"/>
                  <a:pt x="-1607" y="63222"/>
                  <a:pt x="5834" y="70664"/>
                </a:cubicBezTo>
                <a:lnTo>
                  <a:pt x="87630" y="152400"/>
                </a:lnTo>
                <a:lnTo>
                  <a:pt x="5894" y="234196"/>
                </a:lnTo>
                <a:cubicBezTo>
                  <a:pt x="-1548" y="241637"/>
                  <a:pt x="-1548" y="253722"/>
                  <a:pt x="5894" y="261164"/>
                </a:cubicBezTo>
                <a:cubicBezTo>
                  <a:pt x="13335" y="268605"/>
                  <a:pt x="25420" y="268605"/>
                  <a:pt x="32861" y="261164"/>
                </a:cubicBezTo>
                <a:lnTo>
                  <a:pt x="114598" y="179368"/>
                </a:lnTo>
                <a:lnTo>
                  <a:pt x="196394" y="261104"/>
                </a:lnTo>
                <a:cubicBezTo>
                  <a:pt x="203835" y="268545"/>
                  <a:pt x="215920" y="268545"/>
                  <a:pt x="223361" y="261104"/>
                </a:cubicBezTo>
                <a:cubicBezTo>
                  <a:pt x="230803" y="253663"/>
                  <a:pt x="230803" y="241578"/>
                  <a:pt x="223361" y="234136"/>
                </a:cubicBezTo>
                <a:lnTo>
                  <a:pt x="141565" y="152400"/>
                </a:lnTo>
                <a:lnTo>
                  <a:pt x="223302" y="70604"/>
                </a:lnTo>
                <a:cubicBezTo>
                  <a:pt x="230743" y="63163"/>
                  <a:pt x="230743" y="51078"/>
                  <a:pt x="223302" y="43636"/>
                </a:cubicBezTo>
                <a:cubicBezTo>
                  <a:pt x="215860" y="36195"/>
                  <a:pt x="203775" y="36195"/>
                  <a:pt x="196334" y="43636"/>
                </a:cubicBezTo>
                <a:lnTo>
                  <a:pt x="114598" y="125432"/>
                </a:lnTo>
                <a:lnTo>
                  <a:pt x="32802" y="43696"/>
                </a:lnTo>
                <a:close/>
              </a:path>
            </a:pathLst>
          </a:custGeom>
          <a:solidFill>
            <a:srgbClr val="8B4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1524000" y="4851500"/>
            <a:ext cx="60960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Seuil fixe et log-vraisemblance brute : </a:t>
            </a:r>
            <a:r>
              <a:rPr lang="en-US" sz="16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classification repose sur un simple ratio de log-vraisemblances normalisé par la longueur</a:t>
            </a:r>
            <a:r>
              <a:rPr lang="en-US" sz="1600">
                <a:solidFill>
                  <a:srgbClr val="1C1C1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i="0" sz="18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4C5C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"/>
          <p:cNvSpPr/>
          <p:nvPr/>
        </p:nvSpPr>
        <p:spPr>
          <a:xfrm>
            <a:off x="6858000" y="1524000"/>
            <a:ext cx="2540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/>
          <p:nvPr/>
        </p:nvSpPr>
        <p:spPr>
          <a:xfrm>
            <a:off x="1778000" y="2032000"/>
            <a:ext cx="1270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</a:t>
            </a:r>
            <a:endParaRPr b="0" i="0" sz="1600" u="none" cap="none" strike="noStrike"/>
          </a:p>
        </p:txBody>
      </p:sp>
      <p:sp>
        <p:nvSpPr>
          <p:cNvPr id="284" name="Google Shape;284;p16"/>
          <p:cNvSpPr/>
          <p:nvPr/>
        </p:nvSpPr>
        <p:spPr>
          <a:xfrm>
            <a:off x="6223000" y="3048000"/>
            <a:ext cx="381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1778000" y="3429000"/>
            <a:ext cx="1270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 HMM simple capture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efficacement les signatures globales</a:t>
            </a: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des protéines membranaires</a:t>
            </a:r>
            <a:endParaRPr b="0" i="0" sz="1600" u="none" cap="none" strike="noStrike"/>
          </a:p>
        </p:txBody>
      </p:sp>
      <p:sp>
        <p:nvSpPr>
          <p:cNvPr id="286" name="Google Shape;286;p16"/>
          <p:cNvSpPr/>
          <p:nvPr/>
        </p:nvSpPr>
        <p:spPr>
          <a:xfrm>
            <a:off x="1778000" y="4318000"/>
            <a:ext cx="1270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topologie fine</a:t>
            </a:r>
            <a:r>
              <a:rPr b="0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(nombre d'hélices, orientation) reste clé pour une caractérisation complète</a:t>
            </a:r>
            <a:endParaRPr b="0" i="0" sz="1600" u="none" cap="none" strike="noStrike"/>
          </a:p>
        </p:txBody>
      </p:sp>
      <p:sp>
        <p:nvSpPr>
          <p:cNvPr id="287" name="Google Shape;287;p16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Merci pour votre attention</a:t>
            </a:r>
            <a:endParaRPr b="0" i="0" sz="1200" u="none" cap="none" strike="noStrike"/>
          </a:p>
        </p:txBody>
      </p:sp>
      <p:sp>
        <p:nvSpPr>
          <p:cNvPr id="289" name="Google Shape;289;p16"/>
          <p:cNvSpPr/>
          <p:nvPr/>
        </p:nvSpPr>
        <p:spPr>
          <a:xfrm>
            <a:off x="1778050" y="5460950"/>
            <a:ext cx="12699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 questions ?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